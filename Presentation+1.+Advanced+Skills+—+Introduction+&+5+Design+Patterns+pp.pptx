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half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0" y="5106923"/>
            <a:ext cx="9144000" cy="36577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Rectangle 3"/>
          <p:cNvSpPr/>
          <p:nvPr/>
        </p:nvSpPr>
        <p:spPr>
          <a:xfrm>
            <a:off x="-1" y="0"/>
            <a:ext cx="36578" cy="5143500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Rectangle 4"/>
          <p:cNvSpPr/>
          <p:nvPr/>
        </p:nvSpPr>
        <p:spPr>
          <a:xfrm>
            <a:off x="9107423" y="0"/>
            <a:ext cx="36577" cy="5143500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" name="TextBox 5"/>
          <p:cNvSpPr txBox="1"/>
          <p:nvPr/>
        </p:nvSpPr>
        <p:spPr>
          <a:xfrm>
            <a:off x="548639" y="1097280"/>
            <a:ext cx="4480561" cy="239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1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 E C T I O N   4</a:t>
            </a:r>
          </a:p>
        </p:txBody>
      </p:sp>
      <p:sp>
        <p:nvSpPr>
          <p:cNvPr id="99" name="Rectangle 6"/>
          <p:cNvSpPr/>
          <p:nvPr/>
        </p:nvSpPr>
        <p:spPr>
          <a:xfrm>
            <a:off x="502919" y="1417319"/>
            <a:ext cx="1371601" cy="36577"/>
          </a:xfrm>
          <a:prstGeom prst="rect">
            <a:avLst/>
          </a:prstGeom>
          <a:solidFill>
            <a:srgbClr val="E88D5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extBox 7"/>
          <p:cNvSpPr txBox="1"/>
          <p:nvPr/>
        </p:nvSpPr>
        <p:spPr>
          <a:xfrm>
            <a:off x="548639" y="1600200"/>
            <a:ext cx="8138161" cy="7081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Claude Skills Advanced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548639" y="2331720"/>
            <a:ext cx="7223761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Design patterns, instructions, testing &amp; building from scratch.</a:t>
            </a:r>
          </a:p>
        </p:txBody>
      </p:sp>
      <p:sp>
        <p:nvSpPr>
          <p:cNvPr id="102" name="Rectangle 9"/>
          <p:cNvSpPr/>
          <p:nvPr/>
        </p:nvSpPr>
        <p:spPr>
          <a:xfrm>
            <a:off x="36576" y="4206240"/>
            <a:ext cx="9070848" cy="566929"/>
          </a:xfrm>
          <a:prstGeom prst="rect">
            <a:avLst/>
          </a:prstGeom>
          <a:solidFill>
            <a:srgbClr val="15121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Rectangle 2"/>
          <p:cNvSpPr/>
          <p:nvPr/>
        </p:nvSpPr>
        <p:spPr>
          <a:xfrm>
            <a:off x="0" y="5106923"/>
            <a:ext cx="9144000" cy="36577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Rectangle 3"/>
          <p:cNvSpPr/>
          <p:nvPr/>
        </p:nvSpPr>
        <p:spPr>
          <a:xfrm>
            <a:off x="-1" y="0"/>
            <a:ext cx="36578" cy="5143500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Rectangle 4"/>
          <p:cNvSpPr/>
          <p:nvPr/>
        </p:nvSpPr>
        <p:spPr>
          <a:xfrm>
            <a:off x="9107423" y="0"/>
            <a:ext cx="36577" cy="5143500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5"/>
          <p:cNvSpPr txBox="1"/>
          <p:nvPr/>
        </p:nvSpPr>
        <p:spPr>
          <a:xfrm>
            <a:off x="548639" y="228600"/>
            <a:ext cx="72237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 H Y   S K I L L S   M A T T E R</a:t>
            </a:r>
          </a:p>
        </p:txBody>
      </p:sp>
      <p:sp>
        <p:nvSpPr>
          <p:cNvPr id="109" name="TextBox 6"/>
          <p:cNvSpPr txBox="1"/>
          <p:nvPr/>
        </p:nvSpPr>
        <p:spPr>
          <a:xfrm>
            <a:off x="548639" y="475487"/>
            <a:ext cx="8138161" cy="609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Skills Matter</a:t>
            </a:r>
          </a:p>
        </p:txBody>
      </p:sp>
      <p:sp>
        <p:nvSpPr>
          <p:cNvPr id="110" name="TextBox 7"/>
          <p:cNvSpPr txBox="1"/>
          <p:nvPr/>
        </p:nvSpPr>
        <p:spPr>
          <a:xfrm>
            <a:off x="548639" y="988245"/>
            <a:ext cx="8138161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6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Three approaches to extending AI — only one truly adapts.</a:t>
            </a:r>
          </a:p>
        </p:txBody>
      </p:sp>
      <p:sp>
        <p:nvSpPr>
          <p:cNvPr id="111" name="Rounded Rectangle 8"/>
          <p:cNvSpPr/>
          <p:nvPr/>
        </p:nvSpPr>
        <p:spPr>
          <a:xfrm>
            <a:off x="502919" y="1371600"/>
            <a:ext cx="2606041" cy="2606040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Rectangle 9"/>
          <p:cNvSpPr/>
          <p:nvPr/>
        </p:nvSpPr>
        <p:spPr>
          <a:xfrm>
            <a:off x="576072" y="1389888"/>
            <a:ext cx="2459736" cy="50293"/>
          </a:xfrm>
          <a:prstGeom prst="rect">
            <a:avLst/>
          </a:prstGeom>
          <a:solidFill>
            <a:srgbClr val="D46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15" name="Oval 10"/>
          <p:cNvGrpSpPr/>
          <p:nvPr/>
        </p:nvGrpSpPr>
        <p:grpSpPr>
          <a:xfrm>
            <a:off x="694944" y="1517903"/>
            <a:ext cx="256033" cy="256033"/>
            <a:chOff x="0" y="0"/>
            <a:chExt cx="256031" cy="256031"/>
          </a:xfrm>
        </p:grpSpPr>
        <p:sp>
          <p:nvSpPr>
            <p:cNvPr id="113" name="Circle"/>
            <p:cNvSpPr/>
            <p:nvPr/>
          </p:nvSpPr>
          <p:spPr>
            <a:xfrm>
              <a:off x="0" y="0"/>
              <a:ext cx="256032" cy="256032"/>
            </a:xfrm>
            <a:prstGeom prst="ellipse">
              <a:avLst/>
            </a:prstGeom>
            <a:solidFill>
              <a:srgbClr val="D46A6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4" name="X"/>
            <p:cNvSpPr txBox="1"/>
            <p:nvPr/>
          </p:nvSpPr>
          <p:spPr>
            <a:xfrm>
              <a:off x="64515" y="54101"/>
              <a:ext cx="12700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X</a:t>
              </a:r>
            </a:p>
          </p:txBody>
        </p:sp>
      </p:grpSp>
      <p:sp>
        <p:nvSpPr>
          <p:cNvPr id="116" name="TextBox 11"/>
          <p:cNvSpPr txBox="1"/>
          <p:nvPr/>
        </p:nvSpPr>
        <p:spPr>
          <a:xfrm>
            <a:off x="1051559" y="1527047"/>
            <a:ext cx="18288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 GPTs</a:t>
            </a:r>
          </a:p>
        </p:txBody>
      </p:sp>
      <p:sp>
        <p:nvSpPr>
          <p:cNvPr id="117" name="TextBox 12"/>
          <p:cNvSpPr txBox="1"/>
          <p:nvPr/>
        </p:nvSpPr>
        <p:spPr>
          <a:xfrm>
            <a:off x="777240" y="1810511"/>
            <a:ext cx="205740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D46A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Isolated and limited</a:t>
            </a:r>
          </a:p>
        </p:txBody>
      </p:sp>
      <p:sp>
        <p:nvSpPr>
          <p:cNvPr id="118" name="Oval 13"/>
          <p:cNvSpPr/>
          <p:nvPr/>
        </p:nvSpPr>
        <p:spPr>
          <a:xfrm>
            <a:off x="731519" y="2089404"/>
            <a:ext cx="73153" cy="73153"/>
          </a:xfrm>
          <a:prstGeom prst="ellipse">
            <a:avLst/>
          </a:prstGeom>
          <a:solidFill>
            <a:srgbClr val="D46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14"/>
          <p:cNvSpPr txBox="1"/>
          <p:nvPr/>
        </p:nvSpPr>
        <p:spPr>
          <a:xfrm>
            <a:off x="932687" y="2057400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Isolated — hop between windows</a:t>
            </a:r>
          </a:p>
        </p:txBody>
      </p:sp>
      <p:sp>
        <p:nvSpPr>
          <p:cNvPr id="120" name="Oval 15"/>
          <p:cNvSpPr/>
          <p:nvPr/>
        </p:nvSpPr>
        <p:spPr>
          <a:xfrm>
            <a:off x="731519" y="2436876"/>
            <a:ext cx="73153" cy="73153"/>
          </a:xfrm>
          <a:prstGeom prst="ellipse">
            <a:avLst/>
          </a:prstGeom>
          <a:solidFill>
            <a:srgbClr val="D46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16"/>
          <p:cNvSpPr txBox="1"/>
          <p:nvPr/>
        </p:nvSpPr>
        <p:spPr>
          <a:xfrm>
            <a:off x="932687" y="2404872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Don't self-improve over time</a:t>
            </a:r>
          </a:p>
        </p:txBody>
      </p:sp>
      <p:sp>
        <p:nvSpPr>
          <p:cNvPr id="122" name="Oval 17"/>
          <p:cNvSpPr/>
          <p:nvPr/>
        </p:nvSpPr>
        <p:spPr>
          <a:xfrm>
            <a:off x="731519" y="2784348"/>
            <a:ext cx="73153" cy="73153"/>
          </a:xfrm>
          <a:prstGeom prst="ellipse">
            <a:avLst/>
          </a:prstGeom>
          <a:solidFill>
            <a:srgbClr val="D46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18"/>
          <p:cNvSpPr txBox="1"/>
          <p:nvPr/>
        </p:nvSpPr>
        <p:spPr>
          <a:xfrm>
            <a:off x="932687" y="2752344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context &amp; capabilities</a:t>
            </a:r>
          </a:p>
        </p:txBody>
      </p:sp>
      <p:sp>
        <p:nvSpPr>
          <p:cNvPr id="124" name="Oval 19"/>
          <p:cNvSpPr/>
          <p:nvPr/>
        </p:nvSpPr>
        <p:spPr>
          <a:xfrm>
            <a:off x="731519" y="3131820"/>
            <a:ext cx="73153" cy="73153"/>
          </a:xfrm>
          <a:prstGeom prst="ellipse">
            <a:avLst/>
          </a:prstGeom>
          <a:solidFill>
            <a:srgbClr val="D46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TextBox 20"/>
          <p:cNvSpPr txBox="1"/>
          <p:nvPr/>
        </p:nvSpPr>
        <p:spPr>
          <a:xfrm>
            <a:off x="932687" y="3099816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project = one conversation</a:t>
            </a:r>
          </a:p>
        </p:txBody>
      </p:sp>
      <p:sp>
        <p:nvSpPr>
          <p:cNvPr id="126" name="Rounded Rectangle 21"/>
          <p:cNvSpPr/>
          <p:nvPr/>
        </p:nvSpPr>
        <p:spPr>
          <a:xfrm>
            <a:off x="685800" y="3593591"/>
            <a:ext cx="2240280" cy="256033"/>
          </a:xfrm>
          <a:prstGeom prst="roundRect">
            <a:avLst>
              <a:gd name="adj" fmla="val 16667"/>
            </a:avLst>
          </a:prstGeom>
          <a:solidFill>
            <a:srgbClr val="3D222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22"/>
          <p:cNvSpPr txBox="1"/>
          <p:nvPr/>
        </p:nvSpPr>
        <p:spPr>
          <a:xfrm>
            <a:off x="731520" y="3614256"/>
            <a:ext cx="214884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900">
                <a:solidFill>
                  <a:srgbClr val="D46A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Limited and siloed</a:t>
            </a:r>
          </a:p>
        </p:txBody>
      </p:sp>
      <p:sp>
        <p:nvSpPr>
          <p:cNvPr id="128" name="Rounded Rectangle 23"/>
          <p:cNvSpPr/>
          <p:nvPr/>
        </p:nvSpPr>
        <p:spPr>
          <a:xfrm>
            <a:off x="3246120" y="1371600"/>
            <a:ext cx="2606041" cy="2606040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Rectangle 24"/>
          <p:cNvSpPr/>
          <p:nvPr/>
        </p:nvSpPr>
        <p:spPr>
          <a:xfrm>
            <a:off x="3319271" y="1389888"/>
            <a:ext cx="2459737" cy="50293"/>
          </a:xfrm>
          <a:prstGeom prst="rect">
            <a:avLst/>
          </a:prstGeom>
          <a:solidFill>
            <a:srgbClr val="D46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32" name="Oval 25"/>
          <p:cNvGrpSpPr/>
          <p:nvPr/>
        </p:nvGrpSpPr>
        <p:grpSpPr>
          <a:xfrm>
            <a:off x="3438144" y="1517903"/>
            <a:ext cx="256033" cy="256033"/>
            <a:chOff x="0" y="0"/>
            <a:chExt cx="256031" cy="256031"/>
          </a:xfrm>
        </p:grpSpPr>
        <p:sp>
          <p:nvSpPr>
            <p:cNvPr id="130" name="Circle"/>
            <p:cNvSpPr/>
            <p:nvPr/>
          </p:nvSpPr>
          <p:spPr>
            <a:xfrm>
              <a:off x="0" y="0"/>
              <a:ext cx="256032" cy="256032"/>
            </a:xfrm>
            <a:prstGeom prst="ellipse">
              <a:avLst/>
            </a:prstGeom>
            <a:solidFill>
              <a:srgbClr val="D46A6A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1" name="X"/>
            <p:cNvSpPr txBox="1"/>
            <p:nvPr/>
          </p:nvSpPr>
          <p:spPr>
            <a:xfrm>
              <a:off x="64515" y="54101"/>
              <a:ext cx="12700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X</a:t>
              </a:r>
            </a:p>
          </p:txBody>
        </p:sp>
      </p:grpSp>
      <p:sp>
        <p:nvSpPr>
          <p:cNvPr id="133" name="TextBox 26"/>
          <p:cNvSpPr txBox="1"/>
          <p:nvPr/>
        </p:nvSpPr>
        <p:spPr>
          <a:xfrm>
            <a:off x="3794760" y="1527047"/>
            <a:ext cx="18288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Automation Tools</a:t>
            </a:r>
          </a:p>
        </p:txBody>
      </p:sp>
      <p:sp>
        <p:nvSpPr>
          <p:cNvPr id="134" name="TextBox 27"/>
          <p:cNvSpPr txBox="1"/>
          <p:nvPr/>
        </p:nvSpPr>
        <p:spPr>
          <a:xfrm>
            <a:off x="3520440" y="1810511"/>
            <a:ext cx="205740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D46A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N8N, Make, Zapier</a:t>
            </a:r>
          </a:p>
        </p:txBody>
      </p:sp>
      <p:sp>
        <p:nvSpPr>
          <p:cNvPr id="135" name="Oval 28"/>
          <p:cNvSpPr/>
          <p:nvPr/>
        </p:nvSpPr>
        <p:spPr>
          <a:xfrm>
            <a:off x="3474720" y="2089404"/>
            <a:ext cx="73153" cy="73153"/>
          </a:xfrm>
          <a:prstGeom prst="ellipse">
            <a:avLst/>
          </a:prstGeom>
          <a:solidFill>
            <a:srgbClr val="D46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29"/>
          <p:cNvSpPr txBox="1"/>
          <p:nvPr/>
        </p:nvSpPr>
        <p:spPr>
          <a:xfrm>
            <a:off x="3675888" y="2057400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Hardcoded, rigid workflows</a:t>
            </a:r>
          </a:p>
        </p:txBody>
      </p:sp>
      <p:sp>
        <p:nvSpPr>
          <p:cNvPr id="137" name="Oval 30"/>
          <p:cNvSpPr/>
          <p:nvPr/>
        </p:nvSpPr>
        <p:spPr>
          <a:xfrm>
            <a:off x="3474720" y="2436876"/>
            <a:ext cx="73153" cy="73153"/>
          </a:xfrm>
          <a:prstGeom prst="ellipse">
            <a:avLst/>
          </a:prstGeom>
          <a:solidFill>
            <a:srgbClr val="D46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31"/>
          <p:cNvSpPr txBox="1"/>
          <p:nvPr/>
        </p:nvSpPr>
        <p:spPr>
          <a:xfrm>
            <a:off x="3675888" y="2404872"/>
            <a:ext cx="1920240" cy="34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Deterministic only — no AI reasoning</a:t>
            </a:r>
          </a:p>
        </p:txBody>
      </p:sp>
      <p:sp>
        <p:nvSpPr>
          <p:cNvPr id="139" name="Oval 32"/>
          <p:cNvSpPr/>
          <p:nvPr/>
        </p:nvSpPr>
        <p:spPr>
          <a:xfrm>
            <a:off x="3474720" y="2784348"/>
            <a:ext cx="73153" cy="73153"/>
          </a:xfrm>
          <a:prstGeom prst="ellipse">
            <a:avLst/>
          </a:prstGeom>
          <a:solidFill>
            <a:srgbClr val="D46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33"/>
          <p:cNvSpPr txBox="1"/>
          <p:nvPr/>
        </p:nvSpPr>
        <p:spPr>
          <a:xfrm>
            <a:off x="3675888" y="2752344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human in the loop</a:t>
            </a:r>
          </a:p>
        </p:txBody>
      </p:sp>
      <p:sp>
        <p:nvSpPr>
          <p:cNvPr id="141" name="Oval 34"/>
          <p:cNvSpPr/>
          <p:nvPr/>
        </p:nvSpPr>
        <p:spPr>
          <a:xfrm>
            <a:off x="3474720" y="3131820"/>
            <a:ext cx="73153" cy="73153"/>
          </a:xfrm>
          <a:prstGeom prst="ellipse">
            <a:avLst/>
          </a:prstGeom>
          <a:solidFill>
            <a:srgbClr val="D46A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35"/>
          <p:cNvSpPr txBox="1"/>
          <p:nvPr/>
        </p:nvSpPr>
        <p:spPr>
          <a:xfrm>
            <a:off x="3675888" y="3099816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Breaks when anything changes</a:t>
            </a:r>
          </a:p>
        </p:txBody>
      </p:sp>
      <p:sp>
        <p:nvSpPr>
          <p:cNvPr id="143" name="Rounded Rectangle 36"/>
          <p:cNvSpPr/>
          <p:nvPr/>
        </p:nvSpPr>
        <p:spPr>
          <a:xfrm>
            <a:off x="3429000" y="3593591"/>
            <a:ext cx="2240280" cy="256033"/>
          </a:xfrm>
          <a:prstGeom prst="roundRect">
            <a:avLst>
              <a:gd name="adj" fmla="val 16667"/>
            </a:avLst>
          </a:prstGeom>
          <a:solidFill>
            <a:srgbClr val="3D222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37"/>
          <p:cNvSpPr txBox="1"/>
          <p:nvPr/>
        </p:nvSpPr>
        <p:spPr>
          <a:xfrm>
            <a:off x="3474720" y="3614256"/>
            <a:ext cx="214884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900">
                <a:solidFill>
                  <a:srgbClr val="D46A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Rigid and fragile</a:t>
            </a:r>
          </a:p>
        </p:txBody>
      </p:sp>
      <p:sp>
        <p:nvSpPr>
          <p:cNvPr id="145" name="Rounded Rectangle 38"/>
          <p:cNvSpPr/>
          <p:nvPr/>
        </p:nvSpPr>
        <p:spPr>
          <a:xfrm>
            <a:off x="5989320" y="1371600"/>
            <a:ext cx="2606041" cy="2606040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Rectangle 39"/>
          <p:cNvSpPr/>
          <p:nvPr/>
        </p:nvSpPr>
        <p:spPr>
          <a:xfrm>
            <a:off x="6062471" y="1389888"/>
            <a:ext cx="2459737" cy="50293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49" name="Oval 40"/>
          <p:cNvGrpSpPr/>
          <p:nvPr/>
        </p:nvGrpSpPr>
        <p:grpSpPr>
          <a:xfrm>
            <a:off x="6181344" y="1517903"/>
            <a:ext cx="256033" cy="256033"/>
            <a:chOff x="0" y="0"/>
            <a:chExt cx="256031" cy="256031"/>
          </a:xfrm>
        </p:grpSpPr>
        <p:sp>
          <p:nvSpPr>
            <p:cNvPr id="147" name="Circle"/>
            <p:cNvSpPr/>
            <p:nvPr/>
          </p:nvSpPr>
          <p:spPr>
            <a:xfrm>
              <a:off x="0" y="0"/>
              <a:ext cx="256032" cy="256032"/>
            </a:xfrm>
            <a:prstGeom prst="ellipse">
              <a:avLst/>
            </a:prstGeom>
            <a:solidFill>
              <a:srgbClr val="5CB85C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8" name="✓"/>
            <p:cNvSpPr txBox="1"/>
            <p:nvPr/>
          </p:nvSpPr>
          <p:spPr>
            <a:xfrm>
              <a:off x="64515" y="45465"/>
              <a:ext cx="127001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r>
                <a:rPr>
                  <a:latin typeface="+mn-lt"/>
                  <a:ea typeface="+mn-ea"/>
                  <a:cs typeface="+mn-cs"/>
                  <a:sym typeface="Helvetica"/>
                </a:rPr>
                <a:t>✓</a:t>
              </a:r>
            </a:p>
          </p:txBody>
        </p:sp>
      </p:grpSp>
      <p:sp>
        <p:nvSpPr>
          <p:cNvPr id="150" name="TextBox 41"/>
          <p:cNvSpPr txBox="1"/>
          <p:nvPr/>
        </p:nvSpPr>
        <p:spPr>
          <a:xfrm>
            <a:off x="6537959" y="1527047"/>
            <a:ext cx="1828801" cy="288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Skills</a:t>
            </a:r>
          </a:p>
        </p:txBody>
      </p:sp>
      <p:sp>
        <p:nvSpPr>
          <p:cNvPr id="151" name="TextBox 42"/>
          <p:cNvSpPr txBox="1"/>
          <p:nvPr/>
        </p:nvSpPr>
        <p:spPr>
          <a:xfrm>
            <a:off x="6263640" y="1810511"/>
            <a:ext cx="205740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5CB8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adaptive approach</a:t>
            </a:r>
          </a:p>
        </p:txBody>
      </p:sp>
      <p:sp>
        <p:nvSpPr>
          <p:cNvPr id="152" name="Oval 43"/>
          <p:cNvSpPr/>
          <p:nvPr/>
        </p:nvSpPr>
        <p:spPr>
          <a:xfrm>
            <a:off x="6217920" y="2089404"/>
            <a:ext cx="73153" cy="73153"/>
          </a:xfrm>
          <a:prstGeom prst="ellipse">
            <a:avLst/>
          </a:prstGeom>
          <a:solidFill>
            <a:srgbClr val="5CB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TextBox 44"/>
          <p:cNvSpPr txBox="1"/>
          <p:nvPr/>
        </p:nvSpPr>
        <p:spPr>
          <a:xfrm>
            <a:off x="6419088" y="2057400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Flexible — adapts to any situation</a:t>
            </a:r>
          </a:p>
        </p:txBody>
      </p:sp>
      <p:sp>
        <p:nvSpPr>
          <p:cNvPr id="154" name="Oval 45"/>
          <p:cNvSpPr/>
          <p:nvPr/>
        </p:nvSpPr>
        <p:spPr>
          <a:xfrm>
            <a:off x="6217920" y="2436876"/>
            <a:ext cx="73153" cy="73153"/>
          </a:xfrm>
          <a:prstGeom prst="ellipse">
            <a:avLst/>
          </a:prstGeom>
          <a:solidFill>
            <a:srgbClr val="5CB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46"/>
          <p:cNvSpPr txBox="1"/>
          <p:nvPr/>
        </p:nvSpPr>
        <p:spPr>
          <a:xfrm>
            <a:off x="6419088" y="2404872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Human in the loop when needed</a:t>
            </a:r>
          </a:p>
        </p:txBody>
      </p:sp>
      <p:sp>
        <p:nvSpPr>
          <p:cNvPr id="156" name="Oval 47"/>
          <p:cNvSpPr/>
          <p:nvPr/>
        </p:nvSpPr>
        <p:spPr>
          <a:xfrm>
            <a:off x="6217920" y="2784348"/>
            <a:ext cx="73153" cy="73153"/>
          </a:xfrm>
          <a:prstGeom prst="ellipse">
            <a:avLst/>
          </a:prstGeom>
          <a:solidFill>
            <a:srgbClr val="5CB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48"/>
          <p:cNvSpPr txBox="1"/>
          <p:nvPr/>
        </p:nvSpPr>
        <p:spPr>
          <a:xfrm>
            <a:off x="6419088" y="2752344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Self-improving with every use</a:t>
            </a:r>
          </a:p>
        </p:txBody>
      </p:sp>
      <p:sp>
        <p:nvSpPr>
          <p:cNvPr id="158" name="Oval 49"/>
          <p:cNvSpPr/>
          <p:nvPr/>
        </p:nvSpPr>
        <p:spPr>
          <a:xfrm>
            <a:off x="6217920" y="3131820"/>
            <a:ext cx="73153" cy="73153"/>
          </a:xfrm>
          <a:prstGeom prst="ellipse">
            <a:avLst/>
          </a:prstGeom>
          <a:solidFill>
            <a:srgbClr val="5CB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50"/>
          <p:cNvSpPr txBox="1"/>
          <p:nvPr/>
        </p:nvSpPr>
        <p:spPr>
          <a:xfrm>
            <a:off x="6419088" y="3099816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Thousands per agent, by prompting</a:t>
            </a:r>
          </a:p>
        </p:txBody>
      </p:sp>
      <p:sp>
        <p:nvSpPr>
          <p:cNvPr id="160" name="Rounded Rectangle 51"/>
          <p:cNvSpPr/>
          <p:nvPr/>
        </p:nvSpPr>
        <p:spPr>
          <a:xfrm>
            <a:off x="6172200" y="3593591"/>
            <a:ext cx="2240280" cy="256033"/>
          </a:xfrm>
          <a:prstGeom prst="roundRect">
            <a:avLst>
              <a:gd name="adj" fmla="val 16667"/>
            </a:avLst>
          </a:prstGeom>
          <a:solidFill>
            <a:srgbClr val="223D2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52"/>
          <p:cNvSpPr txBox="1"/>
          <p:nvPr/>
        </p:nvSpPr>
        <p:spPr>
          <a:xfrm>
            <a:off x="6217920" y="3614256"/>
            <a:ext cx="214884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900">
                <a:solidFill>
                  <a:srgbClr val="5CB8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Flexible and powerful</a:t>
            </a:r>
          </a:p>
        </p:txBody>
      </p:sp>
      <p:sp>
        <p:nvSpPr>
          <p:cNvPr id="162" name="Rectangle 53"/>
          <p:cNvSpPr/>
          <p:nvPr/>
        </p:nvSpPr>
        <p:spPr>
          <a:xfrm>
            <a:off x="36576" y="4206240"/>
            <a:ext cx="9070848" cy="566929"/>
          </a:xfrm>
          <a:prstGeom prst="rect">
            <a:avLst/>
          </a:prstGeom>
          <a:solidFill>
            <a:srgbClr val="15121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TextBox 54"/>
          <p:cNvSpPr txBox="1"/>
          <p:nvPr/>
        </p:nvSpPr>
        <p:spPr>
          <a:xfrm>
            <a:off x="548640" y="4348432"/>
            <a:ext cx="8046720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Skills adapt, improve, and scale</a:t>
            </a:r>
            <a:r>
              <a:rPr b="0">
                <a:solidFill>
                  <a:srgbClr val="9C9490"/>
                </a:solidFill>
              </a:rPr>
              <a:t> — the other approaches don't.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Rectangle 2"/>
          <p:cNvSpPr/>
          <p:nvPr/>
        </p:nvSpPr>
        <p:spPr>
          <a:xfrm>
            <a:off x="0" y="5106923"/>
            <a:ext cx="9144000" cy="36577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Rectangle 3"/>
          <p:cNvSpPr/>
          <p:nvPr/>
        </p:nvSpPr>
        <p:spPr>
          <a:xfrm>
            <a:off x="-1" y="0"/>
            <a:ext cx="36578" cy="5143500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Rectangle 4"/>
          <p:cNvSpPr/>
          <p:nvPr/>
        </p:nvSpPr>
        <p:spPr>
          <a:xfrm>
            <a:off x="9107423" y="0"/>
            <a:ext cx="36577" cy="5143500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5"/>
          <p:cNvSpPr txBox="1"/>
          <p:nvPr/>
        </p:nvSpPr>
        <p:spPr>
          <a:xfrm>
            <a:off x="548639" y="228600"/>
            <a:ext cx="72237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 R O G R E S S I V E   D I S C L O S U R E</a:t>
            </a:r>
          </a:p>
        </p:txBody>
      </p:sp>
      <p:sp>
        <p:nvSpPr>
          <p:cNvPr id="170" name="TextBox 6"/>
          <p:cNvSpPr txBox="1"/>
          <p:nvPr/>
        </p:nvSpPr>
        <p:spPr>
          <a:xfrm>
            <a:off x="548639" y="475487"/>
            <a:ext cx="8138161" cy="572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Progressive Disclosure — 3 Levels</a:t>
            </a:r>
          </a:p>
        </p:txBody>
      </p:sp>
      <p:sp>
        <p:nvSpPr>
          <p:cNvPr id="171" name="TextBox 7"/>
          <p:cNvSpPr txBox="1"/>
          <p:nvPr/>
        </p:nvSpPr>
        <p:spPr>
          <a:xfrm>
            <a:off x="548639" y="1005988"/>
            <a:ext cx="813816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6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Claude only loads what it needs — keeping context lean and efficient.</a:t>
            </a:r>
          </a:p>
        </p:txBody>
      </p:sp>
      <p:sp>
        <p:nvSpPr>
          <p:cNvPr id="172" name="Rounded Rectangle 8"/>
          <p:cNvSpPr/>
          <p:nvPr/>
        </p:nvSpPr>
        <p:spPr>
          <a:xfrm>
            <a:off x="731519" y="1325880"/>
            <a:ext cx="4754881" cy="566929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Rectangle 9"/>
          <p:cNvSpPr/>
          <p:nvPr/>
        </p:nvSpPr>
        <p:spPr>
          <a:xfrm>
            <a:off x="786383" y="1344167"/>
            <a:ext cx="4645154" cy="50293"/>
          </a:xfrm>
          <a:prstGeom prst="rect">
            <a:avLst/>
          </a:prstGeom>
          <a:solidFill>
            <a:srgbClr val="E88D5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76" name="Oval 10"/>
          <p:cNvGrpSpPr/>
          <p:nvPr/>
        </p:nvGrpSpPr>
        <p:grpSpPr>
          <a:xfrm>
            <a:off x="868680" y="1472183"/>
            <a:ext cx="274321" cy="274321"/>
            <a:chOff x="0" y="0"/>
            <a:chExt cx="274320" cy="274320"/>
          </a:xfrm>
        </p:grpSpPr>
        <p:sp>
          <p:nvSpPr>
            <p:cNvPr id="174" name="Circle"/>
            <p:cNvSpPr/>
            <p:nvPr/>
          </p:nvSpPr>
          <p:spPr>
            <a:xfrm>
              <a:off x="-1" y="-1"/>
              <a:ext cx="274322" cy="274322"/>
            </a:xfrm>
            <a:prstGeom prst="ellipse">
              <a:avLst/>
            </a:prstGeom>
            <a:solidFill>
              <a:srgbClr val="E88D5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5" name="1"/>
            <p:cNvSpPr txBox="1"/>
            <p:nvPr/>
          </p:nvSpPr>
          <p:spPr>
            <a:xfrm>
              <a:off x="73660" y="63245"/>
              <a:ext cx="12700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77" name="TextBox 11"/>
          <p:cNvSpPr txBox="1"/>
          <p:nvPr/>
        </p:nvSpPr>
        <p:spPr>
          <a:xfrm>
            <a:off x="1280160" y="1380744"/>
            <a:ext cx="3749040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Name + Description</a:t>
            </a:r>
          </a:p>
        </p:txBody>
      </p:sp>
      <p:sp>
        <p:nvSpPr>
          <p:cNvPr id="178" name="TextBox 12"/>
          <p:cNvSpPr txBox="1"/>
          <p:nvPr/>
        </p:nvSpPr>
        <p:spPr>
          <a:xfrm>
            <a:off x="1280160" y="1645918"/>
            <a:ext cx="374904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Always in context</a:t>
            </a:r>
          </a:p>
        </p:txBody>
      </p:sp>
      <p:sp>
        <p:nvSpPr>
          <p:cNvPr id="179" name="Rounded Rectangle 13"/>
          <p:cNvSpPr/>
          <p:nvPr/>
        </p:nvSpPr>
        <p:spPr>
          <a:xfrm>
            <a:off x="5760720" y="1380744"/>
            <a:ext cx="2926080" cy="457201"/>
          </a:xfrm>
          <a:prstGeom prst="roundRect">
            <a:avLst>
              <a:gd name="adj" fmla="val 16667"/>
            </a:avLst>
          </a:prstGeom>
          <a:solidFill>
            <a:srgbClr val="23201D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14"/>
          <p:cNvSpPr txBox="1"/>
          <p:nvPr/>
        </p:nvSpPr>
        <p:spPr>
          <a:xfrm>
            <a:off x="5943600" y="1495851"/>
            <a:ext cx="256032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E88D5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~few tokens, always loaded</a:t>
            </a:r>
          </a:p>
        </p:txBody>
      </p:sp>
      <p:sp>
        <p:nvSpPr>
          <p:cNvPr id="181" name="Rectangle 15"/>
          <p:cNvSpPr/>
          <p:nvPr/>
        </p:nvSpPr>
        <p:spPr>
          <a:xfrm>
            <a:off x="3095244" y="1965960"/>
            <a:ext cx="27433" cy="164593"/>
          </a:xfrm>
          <a:prstGeom prst="rect">
            <a:avLst/>
          </a:prstGeom>
          <a:solidFill>
            <a:srgbClr val="D495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Isosceles Triangle 16"/>
          <p:cNvSpPr/>
          <p:nvPr/>
        </p:nvSpPr>
        <p:spPr>
          <a:xfrm rot="10800000">
            <a:off x="3035808" y="2112262"/>
            <a:ext cx="146304" cy="109729"/>
          </a:xfrm>
          <a:prstGeom prst="triangle">
            <a:avLst/>
          </a:prstGeom>
          <a:solidFill>
            <a:srgbClr val="D495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17"/>
          <p:cNvSpPr txBox="1"/>
          <p:nvPr/>
        </p:nvSpPr>
        <p:spPr>
          <a:xfrm>
            <a:off x="3291840" y="1965960"/>
            <a:ext cx="219456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Skill might be relevant?</a:t>
            </a:r>
          </a:p>
        </p:txBody>
      </p:sp>
      <p:sp>
        <p:nvSpPr>
          <p:cNvPr id="184" name="Rounded Rectangle 18"/>
          <p:cNvSpPr/>
          <p:nvPr/>
        </p:nvSpPr>
        <p:spPr>
          <a:xfrm>
            <a:off x="731519" y="2295144"/>
            <a:ext cx="4754881" cy="566929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Rectangle 19"/>
          <p:cNvSpPr/>
          <p:nvPr/>
        </p:nvSpPr>
        <p:spPr>
          <a:xfrm>
            <a:off x="786383" y="2313432"/>
            <a:ext cx="4645154" cy="50293"/>
          </a:xfrm>
          <a:prstGeom prst="rect">
            <a:avLst/>
          </a:prstGeom>
          <a:solidFill>
            <a:srgbClr val="5BA3C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88" name="Oval 20"/>
          <p:cNvGrpSpPr/>
          <p:nvPr/>
        </p:nvGrpSpPr>
        <p:grpSpPr>
          <a:xfrm>
            <a:off x="868680" y="2441448"/>
            <a:ext cx="274321" cy="274321"/>
            <a:chOff x="0" y="0"/>
            <a:chExt cx="274320" cy="274320"/>
          </a:xfrm>
        </p:grpSpPr>
        <p:sp>
          <p:nvSpPr>
            <p:cNvPr id="186" name="Circle"/>
            <p:cNvSpPr/>
            <p:nvPr/>
          </p:nvSpPr>
          <p:spPr>
            <a:xfrm>
              <a:off x="-1" y="-1"/>
              <a:ext cx="274322" cy="274322"/>
            </a:xfrm>
            <a:prstGeom prst="ellipse">
              <a:avLst/>
            </a:prstGeom>
            <a:solidFill>
              <a:srgbClr val="5BA3C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7" name="2"/>
            <p:cNvSpPr txBox="1"/>
            <p:nvPr/>
          </p:nvSpPr>
          <p:spPr>
            <a:xfrm>
              <a:off x="73660" y="63245"/>
              <a:ext cx="12700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189" name="TextBox 21"/>
          <p:cNvSpPr txBox="1"/>
          <p:nvPr/>
        </p:nvSpPr>
        <p:spPr>
          <a:xfrm>
            <a:off x="1280160" y="2350007"/>
            <a:ext cx="3749040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Full Instructions</a:t>
            </a:r>
          </a:p>
        </p:txBody>
      </p:sp>
      <p:sp>
        <p:nvSpPr>
          <p:cNvPr id="190" name="TextBox 22"/>
          <p:cNvSpPr txBox="1"/>
          <p:nvPr/>
        </p:nvSpPr>
        <p:spPr>
          <a:xfrm>
            <a:off x="1280160" y="2615183"/>
            <a:ext cx="374904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Loaded on match</a:t>
            </a:r>
          </a:p>
        </p:txBody>
      </p:sp>
      <p:sp>
        <p:nvSpPr>
          <p:cNvPr id="191" name="Rounded Rectangle 23"/>
          <p:cNvSpPr/>
          <p:nvPr/>
        </p:nvSpPr>
        <p:spPr>
          <a:xfrm>
            <a:off x="5760720" y="2350007"/>
            <a:ext cx="2926080" cy="457201"/>
          </a:xfrm>
          <a:prstGeom prst="roundRect">
            <a:avLst>
              <a:gd name="adj" fmla="val 16667"/>
            </a:avLst>
          </a:prstGeom>
          <a:solidFill>
            <a:srgbClr val="23201D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24"/>
          <p:cNvSpPr txBox="1"/>
          <p:nvPr/>
        </p:nvSpPr>
        <p:spPr>
          <a:xfrm>
            <a:off x="5943600" y="2465115"/>
            <a:ext cx="256032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5BA3C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Step-by-step workflow, rules</a:t>
            </a:r>
          </a:p>
        </p:txBody>
      </p:sp>
      <p:sp>
        <p:nvSpPr>
          <p:cNvPr id="193" name="Rectangle 25"/>
          <p:cNvSpPr/>
          <p:nvPr/>
        </p:nvSpPr>
        <p:spPr>
          <a:xfrm>
            <a:off x="3095244" y="2935223"/>
            <a:ext cx="27433" cy="164593"/>
          </a:xfrm>
          <a:prstGeom prst="rect">
            <a:avLst/>
          </a:prstGeom>
          <a:solidFill>
            <a:srgbClr val="D495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Isosceles Triangle 26"/>
          <p:cNvSpPr/>
          <p:nvPr/>
        </p:nvSpPr>
        <p:spPr>
          <a:xfrm rot="10800000">
            <a:off x="3035808" y="3081527"/>
            <a:ext cx="146304" cy="109729"/>
          </a:xfrm>
          <a:prstGeom prst="triangle">
            <a:avLst/>
          </a:prstGeom>
          <a:solidFill>
            <a:srgbClr val="D4956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TextBox 27"/>
          <p:cNvSpPr txBox="1"/>
          <p:nvPr/>
        </p:nvSpPr>
        <p:spPr>
          <a:xfrm>
            <a:off x="3291840" y="2935223"/>
            <a:ext cx="219456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Needs more detail?</a:t>
            </a:r>
          </a:p>
        </p:txBody>
      </p:sp>
      <p:sp>
        <p:nvSpPr>
          <p:cNvPr id="196" name="Rounded Rectangle 28"/>
          <p:cNvSpPr/>
          <p:nvPr/>
        </p:nvSpPr>
        <p:spPr>
          <a:xfrm>
            <a:off x="731519" y="3264408"/>
            <a:ext cx="4754881" cy="566929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Rectangle 29"/>
          <p:cNvSpPr/>
          <p:nvPr/>
        </p:nvSpPr>
        <p:spPr>
          <a:xfrm>
            <a:off x="786383" y="3282696"/>
            <a:ext cx="4645154" cy="50293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00" name="Oval 30"/>
          <p:cNvGrpSpPr/>
          <p:nvPr/>
        </p:nvGrpSpPr>
        <p:grpSpPr>
          <a:xfrm>
            <a:off x="868680" y="3410711"/>
            <a:ext cx="274321" cy="274321"/>
            <a:chOff x="0" y="0"/>
            <a:chExt cx="274320" cy="274320"/>
          </a:xfrm>
        </p:grpSpPr>
        <p:sp>
          <p:nvSpPr>
            <p:cNvPr id="198" name="Circle"/>
            <p:cNvSpPr/>
            <p:nvPr/>
          </p:nvSpPr>
          <p:spPr>
            <a:xfrm>
              <a:off x="-1" y="-1"/>
              <a:ext cx="274322" cy="274322"/>
            </a:xfrm>
            <a:prstGeom prst="ellipse">
              <a:avLst/>
            </a:prstGeom>
            <a:solidFill>
              <a:srgbClr val="5CB85C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9" name="3"/>
            <p:cNvSpPr txBox="1"/>
            <p:nvPr/>
          </p:nvSpPr>
          <p:spPr>
            <a:xfrm>
              <a:off x="73660" y="63245"/>
              <a:ext cx="12700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201" name="TextBox 31"/>
          <p:cNvSpPr txBox="1"/>
          <p:nvPr/>
        </p:nvSpPr>
        <p:spPr>
          <a:xfrm>
            <a:off x="1280160" y="3319271"/>
            <a:ext cx="3749040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Linked Files</a:t>
            </a:r>
          </a:p>
        </p:txBody>
      </p:sp>
      <p:sp>
        <p:nvSpPr>
          <p:cNvPr id="202" name="TextBox 32"/>
          <p:cNvSpPr txBox="1"/>
          <p:nvPr/>
        </p:nvSpPr>
        <p:spPr>
          <a:xfrm>
            <a:off x="1280160" y="3584447"/>
            <a:ext cx="374904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Loaded on demand</a:t>
            </a:r>
          </a:p>
        </p:txBody>
      </p:sp>
      <p:sp>
        <p:nvSpPr>
          <p:cNvPr id="203" name="Rounded Rectangle 33"/>
          <p:cNvSpPr/>
          <p:nvPr/>
        </p:nvSpPr>
        <p:spPr>
          <a:xfrm>
            <a:off x="5760720" y="3319271"/>
            <a:ext cx="2926080" cy="457201"/>
          </a:xfrm>
          <a:prstGeom prst="roundRect">
            <a:avLst>
              <a:gd name="adj" fmla="val 16667"/>
            </a:avLst>
          </a:prstGeom>
          <a:solidFill>
            <a:srgbClr val="23201D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34"/>
          <p:cNvSpPr txBox="1"/>
          <p:nvPr/>
        </p:nvSpPr>
        <p:spPr>
          <a:xfrm>
            <a:off x="5943600" y="3434379"/>
            <a:ext cx="256032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5CB8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Python scripts, references, templates</a:t>
            </a:r>
          </a:p>
        </p:txBody>
      </p:sp>
      <p:sp>
        <p:nvSpPr>
          <p:cNvPr id="205" name="Rectangle 35"/>
          <p:cNvSpPr/>
          <p:nvPr/>
        </p:nvSpPr>
        <p:spPr>
          <a:xfrm>
            <a:off x="36576" y="4206240"/>
            <a:ext cx="9070848" cy="566929"/>
          </a:xfrm>
          <a:prstGeom prst="rect">
            <a:avLst/>
          </a:prstGeom>
          <a:solidFill>
            <a:srgbClr val="15121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" name="TextBox 36"/>
          <p:cNvSpPr txBox="1"/>
          <p:nvPr/>
        </p:nvSpPr>
        <p:spPr>
          <a:xfrm>
            <a:off x="548640" y="4348432"/>
            <a:ext cx="8046720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Only load what's needed</a:t>
            </a:r>
            <a:r>
              <a:rPr b="0">
                <a:solidFill>
                  <a:srgbClr val="9C9490"/>
                </a:solidFill>
              </a:rPr>
              <a:t> — keep your context window lean and fast.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Rectangle 2"/>
          <p:cNvSpPr/>
          <p:nvPr/>
        </p:nvSpPr>
        <p:spPr>
          <a:xfrm>
            <a:off x="0" y="5106923"/>
            <a:ext cx="9144000" cy="36577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" name="Rectangle 3"/>
          <p:cNvSpPr/>
          <p:nvPr/>
        </p:nvSpPr>
        <p:spPr>
          <a:xfrm>
            <a:off x="-1" y="0"/>
            <a:ext cx="36578" cy="5143500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Rectangle 4"/>
          <p:cNvSpPr/>
          <p:nvPr/>
        </p:nvSpPr>
        <p:spPr>
          <a:xfrm>
            <a:off x="9107423" y="0"/>
            <a:ext cx="36577" cy="5143500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" name="TextBox 5"/>
          <p:cNvSpPr txBox="1"/>
          <p:nvPr/>
        </p:nvSpPr>
        <p:spPr>
          <a:xfrm>
            <a:off x="548639" y="228600"/>
            <a:ext cx="72237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 E S I G N   P A T T E R N S</a:t>
            </a:r>
          </a:p>
        </p:txBody>
      </p:sp>
      <p:sp>
        <p:nvSpPr>
          <p:cNvPr id="213" name="TextBox 6"/>
          <p:cNvSpPr txBox="1"/>
          <p:nvPr/>
        </p:nvSpPr>
        <p:spPr>
          <a:xfrm>
            <a:off x="548639" y="457200"/>
            <a:ext cx="8138161" cy="609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 Design Patterns</a:t>
            </a:r>
          </a:p>
        </p:txBody>
      </p:sp>
      <p:sp>
        <p:nvSpPr>
          <p:cNvPr id="214" name="TextBox 7"/>
          <p:cNvSpPr txBox="1"/>
          <p:nvPr/>
        </p:nvSpPr>
        <p:spPr>
          <a:xfrm>
            <a:off x="548639" y="1030298"/>
            <a:ext cx="8138161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6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Reusable structures for building powerful skills.</a:t>
            </a:r>
          </a:p>
        </p:txBody>
      </p:sp>
      <p:sp>
        <p:nvSpPr>
          <p:cNvPr id="215" name="Rounded Rectangle 8"/>
          <p:cNvSpPr/>
          <p:nvPr/>
        </p:nvSpPr>
        <p:spPr>
          <a:xfrm>
            <a:off x="502920" y="1427125"/>
            <a:ext cx="3931921" cy="658369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Rectangle 9"/>
          <p:cNvSpPr/>
          <p:nvPr/>
        </p:nvSpPr>
        <p:spPr>
          <a:xfrm>
            <a:off x="539496" y="1463700"/>
            <a:ext cx="36577" cy="585217"/>
          </a:xfrm>
          <a:prstGeom prst="rect">
            <a:avLst/>
          </a:prstGeom>
          <a:solidFill>
            <a:srgbClr val="E88D5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19" name="Oval 10"/>
          <p:cNvGrpSpPr/>
          <p:nvPr/>
        </p:nvGrpSpPr>
        <p:grpSpPr>
          <a:xfrm>
            <a:off x="649224" y="1628292"/>
            <a:ext cx="256033" cy="256033"/>
            <a:chOff x="0" y="0"/>
            <a:chExt cx="256031" cy="256031"/>
          </a:xfrm>
        </p:grpSpPr>
        <p:sp>
          <p:nvSpPr>
            <p:cNvPr id="217" name="Circle"/>
            <p:cNvSpPr/>
            <p:nvPr/>
          </p:nvSpPr>
          <p:spPr>
            <a:xfrm>
              <a:off x="0" y="0"/>
              <a:ext cx="256032" cy="256032"/>
            </a:xfrm>
            <a:prstGeom prst="ellipse">
              <a:avLst/>
            </a:prstGeom>
            <a:solidFill>
              <a:srgbClr val="E88D5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8" name="1"/>
            <p:cNvSpPr txBox="1"/>
            <p:nvPr/>
          </p:nvSpPr>
          <p:spPr>
            <a:xfrm>
              <a:off x="64515" y="54101"/>
              <a:ext cx="12700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220" name="TextBox 11"/>
          <p:cNvSpPr txBox="1"/>
          <p:nvPr/>
        </p:nvSpPr>
        <p:spPr>
          <a:xfrm>
            <a:off x="1024128" y="1481988"/>
            <a:ext cx="3200400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Sequential Workflow</a:t>
            </a:r>
          </a:p>
        </p:txBody>
      </p:sp>
      <p:sp>
        <p:nvSpPr>
          <p:cNvPr id="221" name="TextBox 12"/>
          <p:cNvSpPr txBox="1"/>
          <p:nvPr/>
        </p:nvSpPr>
        <p:spPr>
          <a:xfrm>
            <a:off x="1024128" y="1683156"/>
            <a:ext cx="320040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Steps in fixed order. Each depends on the previous.</a:t>
            </a:r>
          </a:p>
        </p:txBody>
      </p:sp>
      <p:sp>
        <p:nvSpPr>
          <p:cNvPr id="222" name="TextBox 13"/>
          <p:cNvSpPr txBox="1"/>
          <p:nvPr/>
        </p:nvSpPr>
        <p:spPr>
          <a:xfrm>
            <a:off x="1024128" y="1866037"/>
            <a:ext cx="3200400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Account → Payment → Subscription → Welcome Email</a:t>
            </a:r>
          </a:p>
        </p:txBody>
      </p:sp>
      <p:sp>
        <p:nvSpPr>
          <p:cNvPr id="223" name="Rounded Rectangle 14"/>
          <p:cNvSpPr/>
          <p:nvPr/>
        </p:nvSpPr>
        <p:spPr>
          <a:xfrm>
            <a:off x="502920" y="2176932"/>
            <a:ext cx="3931921" cy="658369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Rectangle 15"/>
          <p:cNvSpPr/>
          <p:nvPr/>
        </p:nvSpPr>
        <p:spPr>
          <a:xfrm>
            <a:off x="539496" y="2213508"/>
            <a:ext cx="36577" cy="585217"/>
          </a:xfrm>
          <a:prstGeom prst="rect">
            <a:avLst/>
          </a:prstGeom>
          <a:solidFill>
            <a:srgbClr val="5BA3C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27" name="Oval 16"/>
          <p:cNvGrpSpPr/>
          <p:nvPr/>
        </p:nvGrpSpPr>
        <p:grpSpPr>
          <a:xfrm>
            <a:off x="649224" y="2378099"/>
            <a:ext cx="256033" cy="256033"/>
            <a:chOff x="0" y="0"/>
            <a:chExt cx="256031" cy="256031"/>
          </a:xfrm>
        </p:grpSpPr>
        <p:sp>
          <p:nvSpPr>
            <p:cNvPr id="225" name="Circle"/>
            <p:cNvSpPr/>
            <p:nvPr/>
          </p:nvSpPr>
          <p:spPr>
            <a:xfrm>
              <a:off x="0" y="0"/>
              <a:ext cx="256032" cy="256032"/>
            </a:xfrm>
            <a:prstGeom prst="ellipse">
              <a:avLst/>
            </a:prstGeom>
            <a:solidFill>
              <a:srgbClr val="5BA3C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6" name="2"/>
            <p:cNvSpPr txBox="1"/>
            <p:nvPr/>
          </p:nvSpPr>
          <p:spPr>
            <a:xfrm>
              <a:off x="64515" y="54101"/>
              <a:ext cx="12700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228" name="TextBox 17"/>
          <p:cNvSpPr txBox="1"/>
          <p:nvPr/>
        </p:nvSpPr>
        <p:spPr>
          <a:xfrm>
            <a:off x="1024128" y="2231796"/>
            <a:ext cx="3200400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Multi-MCP Coordination</a:t>
            </a:r>
          </a:p>
        </p:txBody>
      </p:sp>
      <p:sp>
        <p:nvSpPr>
          <p:cNvPr id="229" name="TextBox 18"/>
          <p:cNvSpPr txBox="1"/>
          <p:nvPr/>
        </p:nvSpPr>
        <p:spPr>
          <a:xfrm>
            <a:off x="1024128" y="2432964"/>
            <a:ext cx="320040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Orchestrate multiple services in phases.</a:t>
            </a:r>
          </a:p>
        </p:txBody>
      </p:sp>
      <p:sp>
        <p:nvSpPr>
          <p:cNvPr id="230" name="TextBox 19"/>
          <p:cNvSpPr txBox="1"/>
          <p:nvPr/>
        </p:nvSpPr>
        <p:spPr>
          <a:xfrm>
            <a:off x="1024128" y="2615844"/>
            <a:ext cx="3200400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Figma → Drive → Linear → Slack</a:t>
            </a:r>
          </a:p>
        </p:txBody>
      </p:sp>
      <p:sp>
        <p:nvSpPr>
          <p:cNvPr id="231" name="Rounded Rectangle 20"/>
          <p:cNvSpPr/>
          <p:nvPr/>
        </p:nvSpPr>
        <p:spPr>
          <a:xfrm>
            <a:off x="502920" y="2926740"/>
            <a:ext cx="3931921" cy="658369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2" name="Rectangle 21"/>
          <p:cNvSpPr/>
          <p:nvPr/>
        </p:nvSpPr>
        <p:spPr>
          <a:xfrm>
            <a:off x="539496" y="2963316"/>
            <a:ext cx="36577" cy="585217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35" name="Oval 22"/>
          <p:cNvGrpSpPr/>
          <p:nvPr/>
        </p:nvGrpSpPr>
        <p:grpSpPr>
          <a:xfrm>
            <a:off x="649224" y="3127908"/>
            <a:ext cx="256033" cy="256033"/>
            <a:chOff x="0" y="0"/>
            <a:chExt cx="256031" cy="256031"/>
          </a:xfrm>
        </p:grpSpPr>
        <p:sp>
          <p:nvSpPr>
            <p:cNvPr id="233" name="Circle"/>
            <p:cNvSpPr/>
            <p:nvPr/>
          </p:nvSpPr>
          <p:spPr>
            <a:xfrm>
              <a:off x="0" y="0"/>
              <a:ext cx="256032" cy="256032"/>
            </a:xfrm>
            <a:prstGeom prst="ellipse">
              <a:avLst/>
            </a:prstGeom>
            <a:solidFill>
              <a:srgbClr val="5CB85C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4" name="3"/>
            <p:cNvSpPr txBox="1"/>
            <p:nvPr/>
          </p:nvSpPr>
          <p:spPr>
            <a:xfrm>
              <a:off x="64515" y="54101"/>
              <a:ext cx="12700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236" name="TextBox 23"/>
          <p:cNvSpPr txBox="1"/>
          <p:nvPr/>
        </p:nvSpPr>
        <p:spPr>
          <a:xfrm>
            <a:off x="1024128" y="2981604"/>
            <a:ext cx="3200400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Iterative Refinement</a:t>
            </a:r>
          </a:p>
        </p:txBody>
      </p:sp>
      <p:sp>
        <p:nvSpPr>
          <p:cNvPr id="237" name="TextBox 24"/>
          <p:cNvSpPr txBox="1"/>
          <p:nvPr/>
        </p:nvSpPr>
        <p:spPr>
          <a:xfrm>
            <a:off x="1024128" y="3182773"/>
            <a:ext cx="320040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Generate → Review → Improve → Repeat.</a:t>
            </a:r>
          </a:p>
        </p:txBody>
      </p:sp>
      <p:sp>
        <p:nvSpPr>
          <p:cNvPr id="238" name="TextBox 25"/>
          <p:cNvSpPr txBox="1"/>
          <p:nvPr/>
        </p:nvSpPr>
        <p:spPr>
          <a:xfrm>
            <a:off x="1024128" y="3365651"/>
            <a:ext cx="3200400" cy="202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Marketing images, writing, code review</a:t>
            </a:r>
          </a:p>
        </p:txBody>
      </p:sp>
      <p:sp>
        <p:nvSpPr>
          <p:cNvPr id="239" name="Rounded Rectangle 26"/>
          <p:cNvSpPr/>
          <p:nvPr/>
        </p:nvSpPr>
        <p:spPr>
          <a:xfrm>
            <a:off x="4709159" y="1427125"/>
            <a:ext cx="3931921" cy="658369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Rectangle 27"/>
          <p:cNvSpPr/>
          <p:nvPr/>
        </p:nvSpPr>
        <p:spPr>
          <a:xfrm>
            <a:off x="4745735" y="1463700"/>
            <a:ext cx="36577" cy="585217"/>
          </a:xfrm>
          <a:prstGeom prst="rect">
            <a:avLst/>
          </a:prstGeom>
          <a:solidFill>
            <a:srgbClr val="A07CC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43" name="Oval 28"/>
          <p:cNvGrpSpPr/>
          <p:nvPr/>
        </p:nvGrpSpPr>
        <p:grpSpPr>
          <a:xfrm>
            <a:off x="4855464" y="1628292"/>
            <a:ext cx="256033" cy="256033"/>
            <a:chOff x="0" y="0"/>
            <a:chExt cx="256031" cy="256031"/>
          </a:xfrm>
        </p:grpSpPr>
        <p:sp>
          <p:nvSpPr>
            <p:cNvPr id="241" name="Circle"/>
            <p:cNvSpPr/>
            <p:nvPr/>
          </p:nvSpPr>
          <p:spPr>
            <a:xfrm>
              <a:off x="0" y="0"/>
              <a:ext cx="256032" cy="256032"/>
            </a:xfrm>
            <a:prstGeom prst="ellipse">
              <a:avLst/>
            </a:prstGeom>
            <a:solidFill>
              <a:srgbClr val="A07CC5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2" name="4"/>
            <p:cNvSpPr txBox="1"/>
            <p:nvPr/>
          </p:nvSpPr>
          <p:spPr>
            <a:xfrm>
              <a:off x="64515" y="54101"/>
              <a:ext cx="12700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244" name="TextBox 29"/>
          <p:cNvSpPr txBox="1"/>
          <p:nvPr/>
        </p:nvSpPr>
        <p:spPr>
          <a:xfrm>
            <a:off x="5230367" y="1481988"/>
            <a:ext cx="3200400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Context-Aware Branching</a:t>
            </a:r>
          </a:p>
        </p:txBody>
      </p:sp>
      <p:sp>
        <p:nvSpPr>
          <p:cNvPr id="245" name="TextBox 30"/>
          <p:cNvSpPr txBox="1"/>
          <p:nvPr/>
        </p:nvSpPr>
        <p:spPr>
          <a:xfrm>
            <a:off x="5230367" y="1683156"/>
            <a:ext cx="320040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Same input, different paths based on type.</a:t>
            </a:r>
          </a:p>
        </p:txBody>
      </p:sp>
      <p:sp>
        <p:nvSpPr>
          <p:cNvPr id="246" name="TextBox 31"/>
          <p:cNvSpPr txBox="1"/>
          <p:nvPr/>
        </p:nvSpPr>
        <p:spPr>
          <a:xfrm>
            <a:off x="5230367" y="1866037"/>
            <a:ext cx="3200400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Code → GitHub MCP / Doc → Notion MCP</a:t>
            </a:r>
          </a:p>
        </p:txBody>
      </p:sp>
      <p:sp>
        <p:nvSpPr>
          <p:cNvPr id="247" name="Rounded Rectangle 32"/>
          <p:cNvSpPr/>
          <p:nvPr/>
        </p:nvSpPr>
        <p:spPr>
          <a:xfrm>
            <a:off x="4709159" y="2176932"/>
            <a:ext cx="3931921" cy="658369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Rectangle 33"/>
          <p:cNvSpPr/>
          <p:nvPr/>
        </p:nvSpPr>
        <p:spPr>
          <a:xfrm>
            <a:off x="4745735" y="2213508"/>
            <a:ext cx="36577" cy="585217"/>
          </a:xfrm>
          <a:prstGeom prst="rect">
            <a:avLst/>
          </a:prstGeom>
          <a:solidFill>
            <a:srgbClr val="4EB8A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51" name="Oval 34"/>
          <p:cNvGrpSpPr/>
          <p:nvPr/>
        </p:nvGrpSpPr>
        <p:grpSpPr>
          <a:xfrm>
            <a:off x="4855464" y="2378099"/>
            <a:ext cx="256033" cy="256033"/>
            <a:chOff x="0" y="0"/>
            <a:chExt cx="256031" cy="256031"/>
          </a:xfrm>
        </p:grpSpPr>
        <p:sp>
          <p:nvSpPr>
            <p:cNvPr id="249" name="Circle"/>
            <p:cNvSpPr/>
            <p:nvPr/>
          </p:nvSpPr>
          <p:spPr>
            <a:xfrm>
              <a:off x="0" y="0"/>
              <a:ext cx="256032" cy="256032"/>
            </a:xfrm>
            <a:prstGeom prst="ellipse">
              <a:avLst/>
            </a:prstGeom>
            <a:solidFill>
              <a:srgbClr val="4EB8A8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0" name="5"/>
            <p:cNvSpPr txBox="1"/>
            <p:nvPr/>
          </p:nvSpPr>
          <p:spPr>
            <a:xfrm>
              <a:off x="64515" y="54101"/>
              <a:ext cx="12700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252" name="TextBox 35"/>
          <p:cNvSpPr txBox="1"/>
          <p:nvPr/>
        </p:nvSpPr>
        <p:spPr>
          <a:xfrm>
            <a:off x="5230367" y="2231796"/>
            <a:ext cx="3200400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Domain Intelligence</a:t>
            </a:r>
          </a:p>
        </p:txBody>
      </p:sp>
      <p:sp>
        <p:nvSpPr>
          <p:cNvPr id="253" name="TextBox 36"/>
          <p:cNvSpPr txBox="1"/>
          <p:nvPr/>
        </p:nvSpPr>
        <p:spPr>
          <a:xfrm>
            <a:off x="5230367" y="2432964"/>
            <a:ext cx="320040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Company knowledge embedded in a skill.</a:t>
            </a:r>
          </a:p>
        </p:txBody>
      </p:sp>
      <p:sp>
        <p:nvSpPr>
          <p:cNvPr id="254" name="TextBox 37"/>
          <p:cNvSpPr txBox="1"/>
          <p:nvPr/>
        </p:nvSpPr>
        <p:spPr>
          <a:xfrm>
            <a:off x="5230367" y="2615844"/>
            <a:ext cx="3200400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8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SOPs, deployment rules, microservice guides</a:t>
            </a:r>
          </a:p>
        </p:txBody>
      </p:sp>
      <p:sp>
        <p:nvSpPr>
          <p:cNvPr id="255" name="Rectangle 38"/>
          <p:cNvSpPr/>
          <p:nvPr/>
        </p:nvSpPr>
        <p:spPr>
          <a:xfrm>
            <a:off x="36576" y="4206240"/>
            <a:ext cx="9070848" cy="566929"/>
          </a:xfrm>
          <a:prstGeom prst="rect">
            <a:avLst/>
          </a:prstGeom>
          <a:solidFill>
            <a:srgbClr val="15121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TextBox 39"/>
          <p:cNvSpPr txBox="1"/>
          <p:nvPr/>
        </p:nvSpPr>
        <p:spPr>
          <a:xfrm>
            <a:off x="548640" y="4348432"/>
            <a:ext cx="8046720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Pattern → Skill → Reuse</a:t>
            </a:r>
            <a:r>
              <a:rPr b="0">
                <a:solidFill>
                  <a:srgbClr val="9C9490"/>
                </a:solidFill>
              </a:rPr>
              <a:t> — build once, apply everywhere.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1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Rectangle 2"/>
          <p:cNvSpPr/>
          <p:nvPr/>
        </p:nvSpPr>
        <p:spPr>
          <a:xfrm>
            <a:off x="0" y="5106923"/>
            <a:ext cx="9144000" cy="36577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Rectangle 3"/>
          <p:cNvSpPr/>
          <p:nvPr/>
        </p:nvSpPr>
        <p:spPr>
          <a:xfrm>
            <a:off x="-1" y="0"/>
            <a:ext cx="36578" cy="5143500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Rectangle 4"/>
          <p:cNvSpPr/>
          <p:nvPr/>
        </p:nvSpPr>
        <p:spPr>
          <a:xfrm>
            <a:off x="9107423" y="0"/>
            <a:ext cx="36577" cy="5143500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5"/>
          <p:cNvSpPr txBox="1"/>
          <p:nvPr/>
        </p:nvSpPr>
        <p:spPr>
          <a:xfrm>
            <a:off x="548639" y="228600"/>
            <a:ext cx="72237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 K I L L S   +   M C P s</a:t>
            </a:r>
          </a:p>
        </p:txBody>
      </p:sp>
      <p:sp>
        <p:nvSpPr>
          <p:cNvPr id="263" name="TextBox 6"/>
          <p:cNvSpPr txBox="1"/>
          <p:nvPr/>
        </p:nvSpPr>
        <p:spPr>
          <a:xfrm>
            <a:off x="548639" y="475487"/>
            <a:ext cx="8138161" cy="609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Kitchen Analogy</a:t>
            </a:r>
          </a:p>
        </p:txBody>
      </p:sp>
      <p:sp>
        <p:nvSpPr>
          <p:cNvPr id="264" name="TextBox 7"/>
          <p:cNvSpPr txBox="1"/>
          <p:nvPr/>
        </p:nvSpPr>
        <p:spPr>
          <a:xfrm>
            <a:off x="548639" y="1029393"/>
            <a:ext cx="8138161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6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halves of the same system — tools and instructions.</a:t>
            </a:r>
          </a:p>
        </p:txBody>
      </p:sp>
      <p:sp>
        <p:nvSpPr>
          <p:cNvPr id="265" name="Rounded Rectangle 8"/>
          <p:cNvSpPr/>
          <p:nvPr/>
        </p:nvSpPr>
        <p:spPr>
          <a:xfrm>
            <a:off x="502919" y="1371600"/>
            <a:ext cx="3886201" cy="2377440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Rectangle 9"/>
          <p:cNvSpPr/>
          <p:nvPr/>
        </p:nvSpPr>
        <p:spPr>
          <a:xfrm>
            <a:off x="576071" y="1389888"/>
            <a:ext cx="3739898" cy="50293"/>
          </a:xfrm>
          <a:prstGeom prst="rect">
            <a:avLst/>
          </a:prstGeom>
          <a:solidFill>
            <a:srgbClr val="5BA3C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69" name="Oval 10"/>
          <p:cNvGrpSpPr/>
          <p:nvPr/>
        </p:nvGrpSpPr>
        <p:grpSpPr>
          <a:xfrm>
            <a:off x="740663" y="1572767"/>
            <a:ext cx="292610" cy="292609"/>
            <a:chOff x="0" y="0"/>
            <a:chExt cx="292608" cy="292608"/>
          </a:xfrm>
        </p:grpSpPr>
        <p:sp>
          <p:nvSpPr>
            <p:cNvPr id="267" name="Circle"/>
            <p:cNvSpPr/>
            <p:nvPr/>
          </p:nvSpPr>
          <p:spPr>
            <a:xfrm>
              <a:off x="-1" y="-1"/>
              <a:ext cx="292610" cy="292610"/>
            </a:xfrm>
            <a:prstGeom prst="ellipse">
              <a:avLst/>
            </a:prstGeom>
            <a:solidFill>
              <a:srgbClr val="5BA3C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8" name="⚙"/>
            <p:cNvSpPr txBox="1"/>
            <p:nvPr/>
          </p:nvSpPr>
          <p:spPr>
            <a:xfrm>
              <a:off x="82804" y="63754"/>
              <a:ext cx="127001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"/>
                </a:defRPr>
              </a:lvl1pPr>
            </a:lstStyle>
            <a:p>
              <a:pPr>
                <a:defRPr>
                  <a:latin typeface="Arial"/>
                  <a:ea typeface="Arial"/>
                  <a:cs typeface="Arial"/>
                  <a:sym typeface="Arial"/>
                </a:defRPr>
              </a:pPr>
              <a:r>
                <a:rPr>
                  <a:latin typeface="+mn-lt"/>
                  <a:ea typeface="+mn-ea"/>
                  <a:cs typeface="+mn-cs"/>
                  <a:sym typeface="Helvetica"/>
                </a:rPr>
                <a:t>⚙</a:t>
              </a:r>
            </a:p>
          </p:txBody>
        </p:sp>
      </p:grpSp>
      <p:sp>
        <p:nvSpPr>
          <p:cNvPr id="270" name="TextBox 11"/>
          <p:cNvSpPr txBox="1"/>
          <p:nvPr/>
        </p:nvSpPr>
        <p:spPr>
          <a:xfrm>
            <a:off x="1188719" y="1600200"/>
            <a:ext cx="2926082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MCPs = The Hands</a:t>
            </a:r>
          </a:p>
        </p:txBody>
      </p:sp>
      <p:sp>
        <p:nvSpPr>
          <p:cNvPr id="271" name="TextBox 12"/>
          <p:cNvSpPr txBox="1"/>
          <p:nvPr/>
        </p:nvSpPr>
        <p:spPr>
          <a:xfrm>
            <a:off x="777239" y="2011679"/>
            <a:ext cx="3337561" cy="442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Connect to services, provide tools,</a:t>
            </a:r>
          </a:p>
          <a:p>
            <a:pPr>
              <a:defRPr sz="12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access real-time data.</a:t>
            </a:r>
          </a:p>
        </p:txBody>
      </p:sp>
      <p:sp>
        <p:nvSpPr>
          <p:cNvPr id="272" name="Oval 13"/>
          <p:cNvSpPr/>
          <p:nvPr/>
        </p:nvSpPr>
        <p:spPr>
          <a:xfrm>
            <a:off x="777240" y="2551176"/>
            <a:ext cx="73153" cy="73153"/>
          </a:xfrm>
          <a:prstGeom prst="ellipse">
            <a:avLst/>
          </a:prstGeom>
          <a:solidFill>
            <a:srgbClr val="5BA3C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14"/>
          <p:cNvSpPr txBox="1"/>
          <p:nvPr/>
        </p:nvSpPr>
        <p:spPr>
          <a:xfrm>
            <a:off x="987552" y="2514600"/>
            <a:ext cx="31089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Execute actions in external systems</a:t>
            </a:r>
          </a:p>
        </p:txBody>
      </p:sp>
      <p:sp>
        <p:nvSpPr>
          <p:cNvPr id="274" name="Oval 15"/>
          <p:cNvSpPr/>
          <p:nvPr/>
        </p:nvSpPr>
        <p:spPr>
          <a:xfrm>
            <a:off x="777240" y="2871216"/>
            <a:ext cx="73153" cy="73153"/>
          </a:xfrm>
          <a:prstGeom prst="ellipse">
            <a:avLst/>
          </a:prstGeom>
          <a:solidFill>
            <a:srgbClr val="5BA3C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TextBox 16"/>
          <p:cNvSpPr txBox="1"/>
          <p:nvPr/>
        </p:nvSpPr>
        <p:spPr>
          <a:xfrm>
            <a:off x="987552" y="2834639"/>
            <a:ext cx="3108961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Read and write real-time data</a:t>
            </a:r>
          </a:p>
        </p:txBody>
      </p:sp>
      <p:sp>
        <p:nvSpPr>
          <p:cNvPr id="276" name="Oval 17"/>
          <p:cNvSpPr/>
          <p:nvPr/>
        </p:nvSpPr>
        <p:spPr>
          <a:xfrm>
            <a:off x="777240" y="3191255"/>
            <a:ext cx="73153" cy="73153"/>
          </a:xfrm>
          <a:prstGeom prst="ellipse">
            <a:avLst/>
          </a:prstGeom>
          <a:solidFill>
            <a:srgbClr val="5BA3C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TextBox 18"/>
          <p:cNvSpPr txBox="1"/>
          <p:nvPr/>
        </p:nvSpPr>
        <p:spPr>
          <a:xfrm>
            <a:off x="987552" y="3154679"/>
            <a:ext cx="3108961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Always loaded once configured</a:t>
            </a:r>
          </a:p>
        </p:txBody>
      </p:sp>
      <p:sp>
        <p:nvSpPr>
          <p:cNvPr id="278" name="Rounded Rectangle 19"/>
          <p:cNvSpPr/>
          <p:nvPr/>
        </p:nvSpPr>
        <p:spPr>
          <a:xfrm>
            <a:off x="685800" y="3364991"/>
            <a:ext cx="3520441" cy="256033"/>
          </a:xfrm>
          <a:prstGeom prst="roundRect">
            <a:avLst>
              <a:gd name="adj" fmla="val 16667"/>
            </a:avLst>
          </a:prstGeom>
          <a:solidFill>
            <a:srgbClr val="222E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20"/>
          <p:cNvSpPr txBox="1"/>
          <p:nvPr/>
        </p:nvSpPr>
        <p:spPr>
          <a:xfrm>
            <a:off x="731519" y="3385656"/>
            <a:ext cx="342900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900">
                <a:solidFill>
                  <a:srgbClr val="5BA3C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Provides capability</a:t>
            </a:r>
          </a:p>
        </p:txBody>
      </p:sp>
      <p:sp>
        <p:nvSpPr>
          <p:cNvPr id="280" name="Rounded Rectangle 21"/>
          <p:cNvSpPr/>
          <p:nvPr/>
        </p:nvSpPr>
        <p:spPr>
          <a:xfrm>
            <a:off x="4754879" y="1371600"/>
            <a:ext cx="3886201" cy="2377440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1" name="Rectangle 22"/>
          <p:cNvSpPr/>
          <p:nvPr/>
        </p:nvSpPr>
        <p:spPr>
          <a:xfrm>
            <a:off x="4828032" y="1389888"/>
            <a:ext cx="3739897" cy="50293"/>
          </a:xfrm>
          <a:prstGeom prst="rect">
            <a:avLst/>
          </a:prstGeom>
          <a:solidFill>
            <a:srgbClr val="E88D5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84" name="Oval 23"/>
          <p:cNvGrpSpPr/>
          <p:nvPr/>
        </p:nvGrpSpPr>
        <p:grpSpPr>
          <a:xfrm>
            <a:off x="4992623" y="1572767"/>
            <a:ext cx="292609" cy="292609"/>
            <a:chOff x="0" y="0"/>
            <a:chExt cx="292608" cy="292608"/>
          </a:xfrm>
        </p:grpSpPr>
        <p:sp>
          <p:nvSpPr>
            <p:cNvPr id="282" name="Circle"/>
            <p:cNvSpPr/>
            <p:nvPr/>
          </p:nvSpPr>
          <p:spPr>
            <a:xfrm>
              <a:off x="-1" y="-1"/>
              <a:ext cx="292610" cy="292610"/>
            </a:xfrm>
            <a:prstGeom prst="ellipse">
              <a:avLst/>
            </a:prstGeom>
            <a:solidFill>
              <a:srgbClr val="E88D5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3" name="★"/>
            <p:cNvSpPr txBox="1"/>
            <p:nvPr/>
          </p:nvSpPr>
          <p:spPr>
            <a:xfrm>
              <a:off x="70104" y="73279"/>
              <a:ext cx="152401" cy="1460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★</a:t>
              </a:r>
            </a:p>
          </p:txBody>
        </p:sp>
      </p:grpSp>
      <p:sp>
        <p:nvSpPr>
          <p:cNvPr id="285" name="TextBox 24"/>
          <p:cNvSpPr txBox="1"/>
          <p:nvPr/>
        </p:nvSpPr>
        <p:spPr>
          <a:xfrm>
            <a:off x="5440679" y="1600200"/>
            <a:ext cx="2926082" cy="375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Skills = The Recipes</a:t>
            </a:r>
          </a:p>
        </p:txBody>
      </p:sp>
      <p:sp>
        <p:nvSpPr>
          <p:cNvPr id="286" name="TextBox 25"/>
          <p:cNvSpPr txBox="1"/>
          <p:nvPr/>
        </p:nvSpPr>
        <p:spPr>
          <a:xfrm>
            <a:off x="5029200" y="2011679"/>
            <a:ext cx="3337560" cy="442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2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What ingredients, what order,</a:t>
            </a:r>
          </a:p>
          <a:p>
            <a:pPr>
              <a:defRPr sz="1200">
                <a:solidFill>
                  <a:srgbClr val="9C949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what amounts, what output.</a:t>
            </a:r>
          </a:p>
        </p:txBody>
      </p:sp>
      <p:sp>
        <p:nvSpPr>
          <p:cNvPr id="287" name="Oval 26"/>
          <p:cNvSpPr/>
          <p:nvPr/>
        </p:nvSpPr>
        <p:spPr>
          <a:xfrm>
            <a:off x="5029200" y="2551176"/>
            <a:ext cx="73153" cy="73153"/>
          </a:xfrm>
          <a:prstGeom prst="ellipse">
            <a:avLst/>
          </a:prstGeom>
          <a:solidFill>
            <a:srgbClr val="E88D5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TextBox 27"/>
          <p:cNvSpPr txBox="1"/>
          <p:nvPr/>
        </p:nvSpPr>
        <p:spPr>
          <a:xfrm>
            <a:off x="5239511" y="2514600"/>
            <a:ext cx="3108962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Step-by-step instructions for Claude</a:t>
            </a:r>
          </a:p>
        </p:txBody>
      </p:sp>
      <p:sp>
        <p:nvSpPr>
          <p:cNvPr id="289" name="Oval 28"/>
          <p:cNvSpPr/>
          <p:nvPr/>
        </p:nvSpPr>
        <p:spPr>
          <a:xfrm>
            <a:off x="5029200" y="2871216"/>
            <a:ext cx="73153" cy="73153"/>
          </a:xfrm>
          <a:prstGeom prst="ellipse">
            <a:avLst/>
          </a:prstGeom>
          <a:solidFill>
            <a:srgbClr val="E88D5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TextBox 29"/>
          <p:cNvSpPr txBox="1"/>
          <p:nvPr/>
        </p:nvSpPr>
        <p:spPr>
          <a:xfrm>
            <a:off x="5239511" y="2834639"/>
            <a:ext cx="31089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Domain knowledge and best practices</a:t>
            </a:r>
          </a:p>
        </p:txBody>
      </p:sp>
      <p:sp>
        <p:nvSpPr>
          <p:cNvPr id="291" name="Oval 30"/>
          <p:cNvSpPr/>
          <p:nvPr/>
        </p:nvSpPr>
        <p:spPr>
          <a:xfrm>
            <a:off x="5029200" y="3191255"/>
            <a:ext cx="73153" cy="73153"/>
          </a:xfrm>
          <a:prstGeom prst="ellipse">
            <a:avLst/>
          </a:prstGeom>
          <a:solidFill>
            <a:srgbClr val="E88D5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31"/>
          <p:cNvSpPr txBox="1"/>
          <p:nvPr/>
        </p:nvSpPr>
        <p:spPr>
          <a:xfrm>
            <a:off x="5239511" y="3154679"/>
            <a:ext cx="3108962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Only loaded when relevant</a:t>
            </a:r>
          </a:p>
        </p:txBody>
      </p:sp>
      <p:sp>
        <p:nvSpPr>
          <p:cNvPr id="293" name="Rounded Rectangle 32"/>
          <p:cNvSpPr/>
          <p:nvPr/>
        </p:nvSpPr>
        <p:spPr>
          <a:xfrm>
            <a:off x="4937759" y="3364991"/>
            <a:ext cx="3520441" cy="256033"/>
          </a:xfrm>
          <a:prstGeom prst="roundRect">
            <a:avLst>
              <a:gd name="adj" fmla="val 16667"/>
            </a:avLst>
          </a:prstGeom>
          <a:solidFill>
            <a:srgbClr val="3D2E2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TextBox 33"/>
          <p:cNvSpPr txBox="1"/>
          <p:nvPr/>
        </p:nvSpPr>
        <p:spPr>
          <a:xfrm>
            <a:off x="4983479" y="3385656"/>
            <a:ext cx="342900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900">
                <a:solidFill>
                  <a:srgbClr val="E88D5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Provides intelligence</a:t>
            </a:r>
          </a:p>
        </p:txBody>
      </p:sp>
      <p:sp>
        <p:nvSpPr>
          <p:cNvPr id="295" name="Rectangle 34"/>
          <p:cNvSpPr/>
          <p:nvPr/>
        </p:nvSpPr>
        <p:spPr>
          <a:xfrm>
            <a:off x="36576" y="4206240"/>
            <a:ext cx="9070848" cy="566929"/>
          </a:xfrm>
          <a:prstGeom prst="rect">
            <a:avLst/>
          </a:prstGeom>
          <a:solidFill>
            <a:srgbClr val="15121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TextBox 35"/>
          <p:cNvSpPr txBox="1"/>
          <p:nvPr/>
        </p:nvSpPr>
        <p:spPr>
          <a:xfrm>
            <a:off x="548640" y="4348432"/>
            <a:ext cx="8046720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MCPs provide the tools</a:t>
            </a:r>
            <a:r>
              <a:rPr b="0">
                <a:solidFill>
                  <a:srgbClr val="9C9490"/>
                </a:solidFill>
              </a:rPr>
              <a:t> — Skills provide the instructions on how to use them.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1"/>
          <p:cNvSpPr/>
          <p:nvPr/>
        </p:nvSpPr>
        <p:spPr>
          <a:xfrm>
            <a:off x="0" y="-1"/>
            <a:ext cx="9144000" cy="36578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Rectangle 2"/>
          <p:cNvSpPr/>
          <p:nvPr/>
        </p:nvSpPr>
        <p:spPr>
          <a:xfrm>
            <a:off x="0" y="5106923"/>
            <a:ext cx="9144000" cy="36577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Rectangle 3"/>
          <p:cNvSpPr/>
          <p:nvPr/>
        </p:nvSpPr>
        <p:spPr>
          <a:xfrm>
            <a:off x="-1" y="0"/>
            <a:ext cx="36578" cy="5143500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1" name="Rectangle 4"/>
          <p:cNvSpPr/>
          <p:nvPr/>
        </p:nvSpPr>
        <p:spPr>
          <a:xfrm>
            <a:off x="9107423" y="0"/>
            <a:ext cx="36577" cy="5143500"/>
          </a:xfrm>
          <a:prstGeom prst="rect">
            <a:avLst/>
          </a:prstGeom>
          <a:solidFill>
            <a:srgbClr val="5C3D2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5"/>
          <p:cNvSpPr txBox="1"/>
          <p:nvPr/>
        </p:nvSpPr>
        <p:spPr>
          <a:xfrm>
            <a:off x="548639" y="228600"/>
            <a:ext cx="7223761" cy="22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 K I L L   C A T E G O R I E S</a:t>
            </a:r>
          </a:p>
        </p:txBody>
      </p:sp>
      <p:sp>
        <p:nvSpPr>
          <p:cNvPr id="303" name="TextBox 6"/>
          <p:cNvSpPr txBox="1"/>
          <p:nvPr/>
        </p:nvSpPr>
        <p:spPr>
          <a:xfrm>
            <a:off x="548639" y="475487"/>
            <a:ext cx="8138161" cy="609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Categories of Skills</a:t>
            </a:r>
          </a:p>
        </p:txBody>
      </p:sp>
      <p:sp>
        <p:nvSpPr>
          <p:cNvPr id="304" name="TextBox 7"/>
          <p:cNvSpPr txBox="1"/>
          <p:nvPr/>
        </p:nvSpPr>
        <p:spPr>
          <a:xfrm>
            <a:off x="548639" y="1017059"/>
            <a:ext cx="8138161" cy="31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1600">
                <a:solidFill>
                  <a:srgbClr val="D4956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Every skill falls into one of these three buckets.</a:t>
            </a:r>
          </a:p>
        </p:txBody>
      </p:sp>
      <p:sp>
        <p:nvSpPr>
          <p:cNvPr id="305" name="Rounded Rectangle 8"/>
          <p:cNvSpPr/>
          <p:nvPr/>
        </p:nvSpPr>
        <p:spPr>
          <a:xfrm>
            <a:off x="502919" y="1371600"/>
            <a:ext cx="2606041" cy="2606040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Rectangle 9"/>
          <p:cNvSpPr/>
          <p:nvPr/>
        </p:nvSpPr>
        <p:spPr>
          <a:xfrm>
            <a:off x="576072" y="1389888"/>
            <a:ext cx="2459736" cy="50293"/>
          </a:xfrm>
          <a:prstGeom prst="rect">
            <a:avLst/>
          </a:prstGeom>
          <a:solidFill>
            <a:srgbClr val="E88D5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09" name="Oval 10"/>
          <p:cNvGrpSpPr/>
          <p:nvPr/>
        </p:nvGrpSpPr>
        <p:grpSpPr>
          <a:xfrm>
            <a:off x="694944" y="1517903"/>
            <a:ext cx="256033" cy="256033"/>
            <a:chOff x="0" y="0"/>
            <a:chExt cx="256031" cy="256031"/>
          </a:xfrm>
        </p:grpSpPr>
        <p:sp>
          <p:nvSpPr>
            <p:cNvPr id="307" name="Circle"/>
            <p:cNvSpPr/>
            <p:nvPr/>
          </p:nvSpPr>
          <p:spPr>
            <a:xfrm>
              <a:off x="0" y="0"/>
              <a:ext cx="256032" cy="256032"/>
            </a:xfrm>
            <a:prstGeom prst="ellipse">
              <a:avLst/>
            </a:prstGeom>
            <a:solidFill>
              <a:srgbClr val="E88D56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8" name="1"/>
            <p:cNvSpPr txBox="1"/>
            <p:nvPr/>
          </p:nvSpPr>
          <p:spPr>
            <a:xfrm>
              <a:off x="64515" y="54101"/>
              <a:ext cx="12700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310" name="TextBox 11"/>
          <p:cNvSpPr txBox="1"/>
          <p:nvPr/>
        </p:nvSpPr>
        <p:spPr>
          <a:xfrm>
            <a:off x="1051559" y="1499616"/>
            <a:ext cx="1828801" cy="46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Document &amp; Asset</a:t>
            </a:r>
          </a:p>
          <a:p>
            <a:pPr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Creation</a:t>
            </a:r>
          </a:p>
        </p:txBody>
      </p:sp>
      <p:sp>
        <p:nvSpPr>
          <p:cNvPr id="311" name="TextBox 12"/>
          <p:cNvSpPr txBox="1"/>
          <p:nvPr/>
        </p:nvSpPr>
        <p:spPr>
          <a:xfrm>
            <a:off x="777240" y="1883664"/>
            <a:ext cx="205740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E88D5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Create polished outputs</a:t>
            </a:r>
          </a:p>
        </p:txBody>
      </p:sp>
      <p:sp>
        <p:nvSpPr>
          <p:cNvPr id="312" name="Oval 13"/>
          <p:cNvSpPr/>
          <p:nvPr/>
        </p:nvSpPr>
        <p:spPr>
          <a:xfrm>
            <a:off x="731519" y="2153411"/>
            <a:ext cx="73153" cy="73153"/>
          </a:xfrm>
          <a:prstGeom prst="ellipse">
            <a:avLst/>
          </a:prstGeom>
          <a:solidFill>
            <a:srgbClr val="E88D5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3" name="TextBox 14"/>
          <p:cNvSpPr txBox="1"/>
          <p:nvPr/>
        </p:nvSpPr>
        <p:spPr>
          <a:xfrm>
            <a:off x="932687" y="2121407"/>
            <a:ext cx="192024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PDFs and presentations</a:t>
            </a:r>
          </a:p>
        </p:txBody>
      </p:sp>
      <p:sp>
        <p:nvSpPr>
          <p:cNvPr id="314" name="Oval 15"/>
          <p:cNvSpPr/>
          <p:nvPr/>
        </p:nvSpPr>
        <p:spPr>
          <a:xfrm>
            <a:off x="731519" y="2482595"/>
            <a:ext cx="73153" cy="73153"/>
          </a:xfrm>
          <a:prstGeom prst="ellipse">
            <a:avLst/>
          </a:prstGeom>
          <a:solidFill>
            <a:srgbClr val="E88D5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TextBox 16"/>
          <p:cNvSpPr txBox="1"/>
          <p:nvPr/>
        </p:nvSpPr>
        <p:spPr>
          <a:xfrm>
            <a:off x="932687" y="2450590"/>
            <a:ext cx="192024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Reports and spreadsheets</a:t>
            </a:r>
          </a:p>
        </p:txBody>
      </p:sp>
      <p:sp>
        <p:nvSpPr>
          <p:cNvPr id="316" name="Oval 17"/>
          <p:cNvSpPr/>
          <p:nvPr/>
        </p:nvSpPr>
        <p:spPr>
          <a:xfrm>
            <a:off x="731519" y="2811779"/>
            <a:ext cx="73153" cy="73153"/>
          </a:xfrm>
          <a:prstGeom prst="ellipse">
            <a:avLst/>
          </a:prstGeom>
          <a:solidFill>
            <a:srgbClr val="E88D5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7" name="TextBox 18"/>
          <p:cNvSpPr txBox="1"/>
          <p:nvPr/>
        </p:nvSpPr>
        <p:spPr>
          <a:xfrm>
            <a:off x="932687" y="2779776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Images and design assets</a:t>
            </a:r>
          </a:p>
        </p:txBody>
      </p:sp>
      <p:sp>
        <p:nvSpPr>
          <p:cNvPr id="318" name="Oval 19"/>
          <p:cNvSpPr/>
          <p:nvPr/>
        </p:nvSpPr>
        <p:spPr>
          <a:xfrm>
            <a:off x="731519" y="3140964"/>
            <a:ext cx="73153" cy="73153"/>
          </a:xfrm>
          <a:prstGeom prst="ellipse">
            <a:avLst/>
          </a:prstGeom>
          <a:solidFill>
            <a:srgbClr val="E88D5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20"/>
          <p:cNvSpPr txBox="1"/>
          <p:nvPr/>
        </p:nvSpPr>
        <p:spPr>
          <a:xfrm>
            <a:off x="932687" y="3108960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Professional documents</a:t>
            </a:r>
          </a:p>
        </p:txBody>
      </p:sp>
      <p:sp>
        <p:nvSpPr>
          <p:cNvPr id="320" name="Rounded Rectangle 21"/>
          <p:cNvSpPr/>
          <p:nvPr/>
        </p:nvSpPr>
        <p:spPr>
          <a:xfrm>
            <a:off x="685800" y="3593591"/>
            <a:ext cx="2240280" cy="256033"/>
          </a:xfrm>
          <a:prstGeom prst="roundRect">
            <a:avLst>
              <a:gd name="adj" fmla="val 16667"/>
            </a:avLst>
          </a:prstGeom>
          <a:solidFill>
            <a:srgbClr val="3D2E2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TextBox 22"/>
          <p:cNvSpPr txBox="1"/>
          <p:nvPr/>
        </p:nvSpPr>
        <p:spPr>
          <a:xfrm>
            <a:off x="731520" y="3614256"/>
            <a:ext cx="214884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900">
                <a:solidFill>
                  <a:srgbClr val="E88D5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Output-focused</a:t>
            </a:r>
          </a:p>
        </p:txBody>
      </p:sp>
      <p:sp>
        <p:nvSpPr>
          <p:cNvPr id="322" name="Rounded Rectangle 23"/>
          <p:cNvSpPr/>
          <p:nvPr/>
        </p:nvSpPr>
        <p:spPr>
          <a:xfrm>
            <a:off x="3246120" y="1371600"/>
            <a:ext cx="2606041" cy="2606040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Rectangle 24"/>
          <p:cNvSpPr/>
          <p:nvPr/>
        </p:nvSpPr>
        <p:spPr>
          <a:xfrm>
            <a:off x="3319271" y="1389888"/>
            <a:ext cx="2459737" cy="50293"/>
          </a:xfrm>
          <a:prstGeom prst="rect">
            <a:avLst/>
          </a:prstGeom>
          <a:solidFill>
            <a:srgbClr val="5BA3C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26" name="Oval 25"/>
          <p:cNvGrpSpPr/>
          <p:nvPr/>
        </p:nvGrpSpPr>
        <p:grpSpPr>
          <a:xfrm>
            <a:off x="3438144" y="1517903"/>
            <a:ext cx="256033" cy="256033"/>
            <a:chOff x="0" y="0"/>
            <a:chExt cx="256031" cy="256031"/>
          </a:xfrm>
        </p:grpSpPr>
        <p:sp>
          <p:nvSpPr>
            <p:cNvPr id="324" name="Circle"/>
            <p:cNvSpPr/>
            <p:nvPr/>
          </p:nvSpPr>
          <p:spPr>
            <a:xfrm>
              <a:off x="0" y="0"/>
              <a:ext cx="256032" cy="256032"/>
            </a:xfrm>
            <a:prstGeom prst="ellipse">
              <a:avLst/>
            </a:prstGeom>
            <a:solidFill>
              <a:srgbClr val="5BA3CF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5" name="2"/>
            <p:cNvSpPr txBox="1"/>
            <p:nvPr/>
          </p:nvSpPr>
          <p:spPr>
            <a:xfrm>
              <a:off x="64515" y="54101"/>
              <a:ext cx="12700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327" name="TextBox 26"/>
          <p:cNvSpPr txBox="1"/>
          <p:nvPr/>
        </p:nvSpPr>
        <p:spPr>
          <a:xfrm>
            <a:off x="3794760" y="1499616"/>
            <a:ext cx="1828801" cy="46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Workflow</a:t>
            </a:r>
          </a:p>
          <a:p>
            <a:pPr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Automation</a:t>
            </a:r>
          </a:p>
        </p:txBody>
      </p:sp>
      <p:sp>
        <p:nvSpPr>
          <p:cNvPr id="328" name="TextBox 27"/>
          <p:cNvSpPr txBox="1"/>
          <p:nvPr/>
        </p:nvSpPr>
        <p:spPr>
          <a:xfrm>
            <a:off x="3520440" y="1883664"/>
            <a:ext cx="205740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5BA3C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Repeatable processes</a:t>
            </a:r>
          </a:p>
        </p:txBody>
      </p:sp>
      <p:sp>
        <p:nvSpPr>
          <p:cNvPr id="329" name="Oval 28"/>
          <p:cNvSpPr/>
          <p:nvPr/>
        </p:nvSpPr>
        <p:spPr>
          <a:xfrm>
            <a:off x="3474720" y="2153411"/>
            <a:ext cx="73153" cy="73153"/>
          </a:xfrm>
          <a:prstGeom prst="ellipse">
            <a:avLst/>
          </a:prstGeom>
          <a:solidFill>
            <a:srgbClr val="5BA3C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TextBox 29"/>
          <p:cNvSpPr txBox="1"/>
          <p:nvPr/>
        </p:nvSpPr>
        <p:spPr>
          <a:xfrm>
            <a:off x="3675888" y="2121407"/>
            <a:ext cx="192024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Multi-step task sequences</a:t>
            </a:r>
          </a:p>
        </p:txBody>
      </p:sp>
      <p:sp>
        <p:nvSpPr>
          <p:cNvPr id="331" name="Oval 30"/>
          <p:cNvSpPr/>
          <p:nvPr/>
        </p:nvSpPr>
        <p:spPr>
          <a:xfrm>
            <a:off x="3474720" y="2482595"/>
            <a:ext cx="73153" cy="73153"/>
          </a:xfrm>
          <a:prstGeom prst="ellipse">
            <a:avLst/>
          </a:prstGeom>
          <a:solidFill>
            <a:srgbClr val="5BA3C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2" name="TextBox 31"/>
          <p:cNvSpPr txBox="1"/>
          <p:nvPr/>
        </p:nvSpPr>
        <p:spPr>
          <a:xfrm>
            <a:off x="3675888" y="2450590"/>
            <a:ext cx="192024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Processes you repeat often</a:t>
            </a:r>
          </a:p>
        </p:txBody>
      </p:sp>
      <p:sp>
        <p:nvSpPr>
          <p:cNvPr id="333" name="Oval 32"/>
          <p:cNvSpPr/>
          <p:nvPr/>
        </p:nvSpPr>
        <p:spPr>
          <a:xfrm>
            <a:off x="3474720" y="2811779"/>
            <a:ext cx="73153" cy="73153"/>
          </a:xfrm>
          <a:prstGeom prst="ellipse">
            <a:avLst/>
          </a:prstGeom>
          <a:solidFill>
            <a:srgbClr val="5BA3C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TextBox 33"/>
          <p:cNvSpPr txBox="1"/>
          <p:nvPr/>
        </p:nvSpPr>
        <p:spPr>
          <a:xfrm>
            <a:off x="3675888" y="2779776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Cross-platform orchestration</a:t>
            </a:r>
          </a:p>
        </p:txBody>
      </p:sp>
      <p:sp>
        <p:nvSpPr>
          <p:cNvPr id="335" name="Oval 34"/>
          <p:cNvSpPr/>
          <p:nvPr/>
        </p:nvSpPr>
        <p:spPr>
          <a:xfrm>
            <a:off x="3474720" y="3140964"/>
            <a:ext cx="73153" cy="73153"/>
          </a:xfrm>
          <a:prstGeom prst="ellipse">
            <a:avLst/>
          </a:prstGeom>
          <a:solidFill>
            <a:srgbClr val="5BA3C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6" name="TextBox 35"/>
          <p:cNvSpPr txBox="1"/>
          <p:nvPr/>
        </p:nvSpPr>
        <p:spPr>
          <a:xfrm>
            <a:off x="3675888" y="3108960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Team-wide standard workflows</a:t>
            </a:r>
          </a:p>
        </p:txBody>
      </p:sp>
      <p:sp>
        <p:nvSpPr>
          <p:cNvPr id="337" name="Rounded Rectangle 36"/>
          <p:cNvSpPr/>
          <p:nvPr/>
        </p:nvSpPr>
        <p:spPr>
          <a:xfrm>
            <a:off x="3429000" y="3593591"/>
            <a:ext cx="2240280" cy="256033"/>
          </a:xfrm>
          <a:prstGeom prst="roundRect">
            <a:avLst>
              <a:gd name="adj" fmla="val 16667"/>
            </a:avLst>
          </a:prstGeom>
          <a:solidFill>
            <a:srgbClr val="222E3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TextBox 37"/>
          <p:cNvSpPr txBox="1"/>
          <p:nvPr/>
        </p:nvSpPr>
        <p:spPr>
          <a:xfrm>
            <a:off x="3474720" y="3614256"/>
            <a:ext cx="214884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900">
                <a:solidFill>
                  <a:srgbClr val="5BA3C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Process-focused</a:t>
            </a:r>
          </a:p>
        </p:txBody>
      </p:sp>
      <p:sp>
        <p:nvSpPr>
          <p:cNvPr id="339" name="Rounded Rectangle 38"/>
          <p:cNvSpPr/>
          <p:nvPr/>
        </p:nvSpPr>
        <p:spPr>
          <a:xfrm>
            <a:off x="5989320" y="1371600"/>
            <a:ext cx="2606041" cy="2606040"/>
          </a:xfrm>
          <a:prstGeom prst="roundRect">
            <a:avLst>
              <a:gd name="adj" fmla="val 16667"/>
            </a:avLst>
          </a:prstGeom>
          <a:solidFill>
            <a:srgbClr val="292522"/>
          </a:solidFill>
          <a:ln w="12700">
            <a:solidFill>
              <a:srgbClr val="3D353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0" name="Rectangle 39"/>
          <p:cNvSpPr/>
          <p:nvPr/>
        </p:nvSpPr>
        <p:spPr>
          <a:xfrm>
            <a:off x="6062471" y="1389888"/>
            <a:ext cx="2459737" cy="50293"/>
          </a:xfrm>
          <a:prstGeom prst="rect">
            <a:avLst/>
          </a:prstGeom>
          <a:solidFill>
            <a:srgbClr val="5CB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43" name="Oval 40"/>
          <p:cNvGrpSpPr/>
          <p:nvPr/>
        </p:nvGrpSpPr>
        <p:grpSpPr>
          <a:xfrm>
            <a:off x="6181344" y="1517903"/>
            <a:ext cx="256033" cy="256033"/>
            <a:chOff x="0" y="0"/>
            <a:chExt cx="256031" cy="256031"/>
          </a:xfrm>
        </p:grpSpPr>
        <p:sp>
          <p:nvSpPr>
            <p:cNvPr id="341" name="Circle"/>
            <p:cNvSpPr/>
            <p:nvPr/>
          </p:nvSpPr>
          <p:spPr>
            <a:xfrm>
              <a:off x="0" y="0"/>
              <a:ext cx="256032" cy="256032"/>
            </a:xfrm>
            <a:prstGeom prst="ellipse">
              <a:avLst/>
            </a:prstGeom>
            <a:solidFill>
              <a:srgbClr val="5CB85C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2" name="3"/>
            <p:cNvSpPr txBox="1"/>
            <p:nvPr/>
          </p:nvSpPr>
          <p:spPr>
            <a:xfrm>
              <a:off x="64515" y="54101"/>
              <a:ext cx="127001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>
                <a:def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344" name="TextBox 41"/>
          <p:cNvSpPr txBox="1"/>
          <p:nvPr/>
        </p:nvSpPr>
        <p:spPr>
          <a:xfrm>
            <a:off x="6537959" y="1499616"/>
            <a:ext cx="1828801" cy="46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MCP</a:t>
            </a:r>
          </a:p>
          <a:p>
            <a:pPr>
              <a:def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Enhancement</a:t>
            </a:r>
          </a:p>
        </p:txBody>
      </p:sp>
      <p:sp>
        <p:nvSpPr>
          <p:cNvPr id="345" name="TextBox 42"/>
          <p:cNvSpPr txBox="1"/>
          <p:nvPr/>
        </p:nvSpPr>
        <p:spPr>
          <a:xfrm>
            <a:off x="6263640" y="1883664"/>
            <a:ext cx="2057401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900">
                <a:solidFill>
                  <a:srgbClr val="5CB8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Guide Claude on MCP usage</a:t>
            </a:r>
          </a:p>
        </p:txBody>
      </p:sp>
      <p:sp>
        <p:nvSpPr>
          <p:cNvPr id="346" name="Oval 43"/>
          <p:cNvSpPr/>
          <p:nvPr/>
        </p:nvSpPr>
        <p:spPr>
          <a:xfrm>
            <a:off x="6217920" y="2153411"/>
            <a:ext cx="73153" cy="73153"/>
          </a:xfrm>
          <a:prstGeom prst="ellipse">
            <a:avLst/>
          </a:prstGeom>
          <a:solidFill>
            <a:srgbClr val="5CB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44"/>
          <p:cNvSpPr txBox="1"/>
          <p:nvPr/>
        </p:nvSpPr>
        <p:spPr>
          <a:xfrm>
            <a:off x="6419088" y="2121407"/>
            <a:ext cx="192024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Teach Claude how to use an MCP</a:t>
            </a:r>
          </a:p>
        </p:txBody>
      </p:sp>
      <p:sp>
        <p:nvSpPr>
          <p:cNvPr id="348" name="Oval 45"/>
          <p:cNvSpPr/>
          <p:nvPr/>
        </p:nvSpPr>
        <p:spPr>
          <a:xfrm>
            <a:off x="6217920" y="2482595"/>
            <a:ext cx="73153" cy="73153"/>
          </a:xfrm>
          <a:prstGeom prst="ellipse">
            <a:avLst/>
          </a:prstGeom>
          <a:solidFill>
            <a:srgbClr val="5CB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TextBox 46"/>
          <p:cNvSpPr txBox="1"/>
          <p:nvPr/>
        </p:nvSpPr>
        <p:spPr>
          <a:xfrm>
            <a:off x="6419088" y="2450590"/>
            <a:ext cx="1920240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API-specific best practices</a:t>
            </a:r>
          </a:p>
        </p:txBody>
      </p:sp>
      <p:sp>
        <p:nvSpPr>
          <p:cNvPr id="350" name="Oval 47"/>
          <p:cNvSpPr/>
          <p:nvPr/>
        </p:nvSpPr>
        <p:spPr>
          <a:xfrm>
            <a:off x="6217920" y="2811779"/>
            <a:ext cx="73153" cy="73153"/>
          </a:xfrm>
          <a:prstGeom prst="ellipse">
            <a:avLst/>
          </a:prstGeom>
          <a:solidFill>
            <a:srgbClr val="5CB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TextBox 48"/>
          <p:cNvSpPr txBox="1"/>
          <p:nvPr/>
        </p:nvSpPr>
        <p:spPr>
          <a:xfrm>
            <a:off x="6419088" y="2779776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Error handling strategies</a:t>
            </a:r>
          </a:p>
        </p:txBody>
      </p:sp>
      <p:sp>
        <p:nvSpPr>
          <p:cNvPr id="352" name="Oval 49"/>
          <p:cNvSpPr/>
          <p:nvPr/>
        </p:nvSpPr>
        <p:spPr>
          <a:xfrm>
            <a:off x="6217920" y="3140964"/>
            <a:ext cx="73153" cy="73153"/>
          </a:xfrm>
          <a:prstGeom prst="ellipse">
            <a:avLst/>
          </a:prstGeom>
          <a:solidFill>
            <a:srgbClr val="5CB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TextBox 50"/>
          <p:cNvSpPr txBox="1"/>
          <p:nvPr/>
        </p:nvSpPr>
        <p:spPr>
          <a:xfrm>
            <a:off x="6419088" y="3108960"/>
            <a:ext cx="1920240" cy="21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Optimal tool combinations</a:t>
            </a:r>
          </a:p>
        </p:txBody>
      </p:sp>
      <p:sp>
        <p:nvSpPr>
          <p:cNvPr id="354" name="Rounded Rectangle 51"/>
          <p:cNvSpPr/>
          <p:nvPr/>
        </p:nvSpPr>
        <p:spPr>
          <a:xfrm>
            <a:off x="6400800" y="3291838"/>
            <a:ext cx="1783080" cy="201169"/>
          </a:xfrm>
          <a:prstGeom prst="roundRect">
            <a:avLst>
              <a:gd name="adj" fmla="val 16667"/>
            </a:avLst>
          </a:prstGeom>
          <a:solidFill>
            <a:srgbClr val="5CB8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TextBox 52"/>
          <p:cNvSpPr txBox="1"/>
          <p:nvPr/>
        </p:nvSpPr>
        <p:spPr>
          <a:xfrm>
            <a:off x="6446520" y="3291215"/>
            <a:ext cx="1691640" cy="202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Most underutilised</a:t>
            </a:r>
          </a:p>
        </p:txBody>
      </p:sp>
      <p:sp>
        <p:nvSpPr>
          <p:cNvPr id="356" name="Rounded Rectangle 53"/>
          <p:cNvSpPr/>
          <p:nvPr/>
        </p:nvSpPr>
        <p:spPr>
          <a:xfrm>
            <a:off x="6172200" y="3593591"/>
            <a:ext cx="2240280" cy="256033"/>
          </a:xfrm>
          <a:prstGeom prst="roundRect">
            <a:avLst>
              <a:gd name="adj" fmla="val 16667"/>
            </a:avLst>
          </a:prstGeom>
          <a:solidFill>
            <a:srgbClr val="223D22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7" name="TextBox 54"/>
          <p:cNvSpPr txBox="1"/>
          <p:nvPr/>
        </p:nvSpPr>
        <p:spPr>
          <a:xfrm>
            <a:off x="6217920" y="3614256"/>
            <a:ext cx="2148841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900">
                <a:solidFill>
                  <a:srgbClr val="5CB8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Intelligence-focused</a:t>
            </a:r>
          </a:p>
        </p:txBody>
      </p:sp>
      <p:sp>
        <p:nvSpPr>
          <p:cNvPr id="358" name="Rectangle 55"/>
          <p:cNvSpPr/>
          <p:nvPr/>
        </p:nvSpPr>
        <p:spPr>
          <a:xfrm>
            <a:off x="36576" y="4206240"/>
            <a:ext cx="9070848" cy="566929"/>
          </a:xfrm>
          <a:prstGeom prst="rect">
            <a:avLst/>
          </a:prstGeom>
          <a:solidFill>
            <a:srgbClr val="15121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9" name="TextBox 56"/>
          <p:cNvSpPr txBox="1"/>
          <p:nvPr/>
        </p:nvSpPr>
        <p:spPr>
          <a:xfrm>
            <a:off x="548640" y="4348432"/>
            <a:ext cx="8046720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Documents, Workflows, MCP Enhancement</a:t>
            </a:r>
            <a:r>
              <a:rPr b="0">
                <a:solidFill>
                  <a:srgbClr val="9C9490"/>
                </a:solidFill>
              </a:rPr>
              <a:t> — pick the right category for your skill.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